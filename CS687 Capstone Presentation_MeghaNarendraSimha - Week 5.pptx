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7" r:id="rId1"/>
  </p:sldMasterIdLst>
  <p:notesMasterIdLst>
    <p:notesMasterId r:id="rId28"/>
  </p:notesMasterIdLst>
  <p:sldIdLst>
    <p:sldId id="256" r:id="rId2"/>
    <p:sldId id="274" r:id="rId3"/>
    <p:sldId id="277" r:id="rId4"/>
    <p:sldId id="275" r:id="rId5"/>
    <p:sldId id="285" r:id="rId6"/>
    <p:sldId id="286" r:id="rId7"/>
    <p:sldId id="287" r:id="rId8"/>
    <p:sldId id="294" r:id="rId9"/>
    <p:sldId id="299" r:id="rId10"/>
    <p:sldId id="300" r:id="rId11"/>
    <p:sldId id="290" r:id="rId12"/>
    <p:sldId id="291" r:id="rId13"/>
    <p:sldId id="301" r:id="rId14"/>
    <p:sldId id="292" r:id="rId15"/>
    <p:sldId id="289" r:id="rId16"/>
    <p:sldId id="295" r:id="rId17"/>
    <p:sldId id="296" r:id="rId18"/>
    <p:sldId id="297" r:id="rId19"/>
    <p:sldId id="298" r:id="rId20"/>
    <p:sldId id="302" r:id="rId21"/>
    <p:sldId id="281" r:id="rId22"/>
    <p:sldId id="282" r:id="rId23"/>
    <p:sldId id="283" r:id="rId24"/>
    <p:sldId id="278" r:id="rId25"/>
    <p:sldId id="284" r:id="rId26"/>
    <p:sldId id="276"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18F8B5-2623-C342-839A-15BC4F6A7BE5}" v="6" dt="2026-02-16T05:12:57.295"/>
  </p1510:revLst>
</p1510:revInfo>
</file>

<file path=ppt/tableStyles.xml><?xml version="1.0" encoding="utf-8"?>
<a:tblStyleLst xmlns:a="http://schemas.openxmlformats.org/drawingml/2006/main" def="{1FE44F72-D7B3-41EB-977B-2E401710A9A8}">
  <a:tblStyle styleId="{1FE44F72-D7B3-41EB-977B-2E401710A9A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7"/>
    <p:restoredTop sz="94714"/>
  </p:normalViewPr>
  <p:slideViewPr>
    <p:cSldViewPr snapToGrid="0">
      <p:cViewPr varScale="1">
        <p:scale>
          <a:sx n="149" d="100"/>
          <a:sy n="149" d="100"/>
        </p:scale>
        <p:origin x="39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a Narendra Simha" userId="S::narendrasimhamegha@cityuniversity.edu::232387a7-bc30-4e81-9c8b-48dd3bad174d" providerId="AD" clId="Web-{E804E528-4CF3-099A-572D-3289BF645A35}"/>
    <pc:docChg chg="modSld">
      <pc:chgData name="Megha Narendra Simha" userId="S::narendrasimhamegha@cityuniversity.edu::232387a7-bc30-4e81-9c8b-48dd3bad174d" providerId="AD" clId="Web-{E804E528-4CF3-099A-572D-3289BF645A35}" dt="2026-01-31T02:36:02.950" v="11"/>
      <pc:docMkLst>
        <pc:docMk/>
      </pc:docMkLst>
    </pc:docChg>
  </pc:docChgLst>
  <pc:docChgLst>
    <pc:chgData name="Megha Narendra Simha" userId="S::narendrasimhamegha@cityuniversity.edu::232387a7-bc30-4e81-9c8b-48dd3bad174d" providerId="AD" clId="Web-{FA75A2B9-DCA6-41B5-2B0B-C2538EBA37A7}"/>
    <pc:docChg chg="modSld">
      <pc:chgData name="Megha Narendra Simha" userId="S::narendrasimhamegha@cityuniversity.edu::232387a7-bc30-4e81-9c8b-48dd3bad174d" providerId="AD" clId="Web-{FA75A2B9-DCA6-41B5-2B0B-C2538EBA37A7}" dt="2026-02-01T20:38:15.573" v="123"/>
      <pc:docMkLst>
        <pc:docMk/>
      </pc:docMkLst>
      <pc:sldChg chg="modSp">
        <pc:chgData name="Megha Narendra Simha" userId="S::narendrasimhamegha@cityuniversity.edu::232387a7-bc30-4e81-9c8b-48dd3bad174d" providerId="AD" clId="Web-{FA75A2B9-DCA6-41B5-2B0B-C2538EBA37A7}" dt="2026-02-01T20:32:54.400" v="9" actId="20577"/>
        <pc:sldMkLst>
          <pc:docMk/>
          <pc:sldMk cId="3443371739" sldId="275"/>
        </pc:sldMkLst>
        <pc:spChg chg="mod">
          <ac:chgData name="Megha Narendra Simha" userId="S::narendrasimhamegha@cityuniversity.edu::232387a7-bc30-4e81-9c8b-48dd3bad174d" providerId="AD" clId="Web-{FA75A2B9-DCA6-41B5-2B0B-C2538EBA37A7}" dt="2026-02-01T20:32:54.400" v="9" actId="20577"/>
          <ac:spMkLst>
            <pc:docMk/>
            <pc:sldMk cId="3443371739" sldId="275"/>
            <ac:spMk id="3" creationId="{00000000-0000-0000-0000-000000000000}"/>
          </ac:spMkLst>
        </pc:spChg>
      </pc:sldChg>
      <pc:sldChg chg="modSp">
        <pc:chgData name="Megha Narendra Simha" userId="S::narendrasimhamegha@cityuniversity.edu::232387a7-bc30-4e81-9c8b-48dd3bad174d" providerId="AD" clId="Web-{FA75A2B9-DCA6-41B5-2B0B-C2538EBA37A7}" dt="2026-02-01T20:31:46.994" v="4" actId="20577"/>
        <pc:sldMkLst>
          <pc:docMk/>
          <pc:sldMk cId="3680760769" sldId="277"/>
        </pc:sldMkLst>
        <pc:spChg chg="mod">
          <ac:chgData name="Megha Narendra Simha" userId="S::narendrasimhamegha@cityuniversity.edu::232387a7-bc30-4e81-9c8b-48dd3bad174d" providerId="AD" clId="Web-{FA75A2B9-DCA6-41B5-2B0B-C2538EBA37A7}" dt="2026-02-01T20:31:46.994" v="4" actId="20577"/>
          <ac:spMkLst>
            <pc:docMk/>
            <pc:sldMk cId="3680760769" sldId="277"/>
            <ac:spMk id="3" creationId="{00000000-0000-0000-0000-000000000000}"/>
          </ac:spMkLst>
        </pc:spChg>
      </pc:sldChg>
    </pc:docChg>
  </pc:docChgLst>
  <pc:docChgLst>
    <pc:chgData name="Megha Narendra Simha" userId="232387a7-bc30-4e81-9c8b-48dd3bad174d" providerId="ADAL" clId="{94CC8C6A-531B-5230-BF26-369D9A2ED91F}"/>
    <pc:docChg chg="undo custSel addSld delSld modSld">
      <pc:chgData name="Megha Narendra Simha" userId="232387a7-bc30-4e81-9c8b-48dd3bad174d" providerId="ADAL" clId="{94CC8C6A-531B-5230-BF26-369D9A2ED91F}" dt="2026-02-16T05:12:57.295" v="335"/>
      <pc:docMkLst>
        <pc:docMk/>
      </pc:docMkLst>
      <pc:sldChg chg="modSp mod">
        <pc:chgData name="Megha Narendra Simha" userId="232387a7-bc30-4e81-9c8b-48dd3bad174d" providerId="ADAL" clId="{94CC8C6A-531B-5230-BF26-369D9A2ED91F}" dt="2026-02-16T05:04:53.649" v="160" actId="20577"/>
        <pc:sldMkLst>
          <pc:docMk/>
          <pc:sldMk cId="2425647436" sldId="274"/>
        </pc:sldMkLst>
        <pc:spChg chg="mod">
          <ac:chgData name="Megha Narendra Simha" userId="232387a7-bc30-4e81-9c8b-48dd3bad174d" providerId="ADAL" clId="{94CC8C6A-531B-5230-BF26-369D9A2ED91F}" dt="2026-02-16T05:04:53.649" v="160" actId="20577"/>
          <ac:spMkLst>
            <pc:docMk/>
            <pc:sldMk cId="2425647436" sldId="274"/>
            <ac:spMk id="3" creationId="{00000000-0000-0000-0000-000000000000}"/>
          </ac:spMkLst>
        </pc:spChg>
      </pc:sldChg>
      <pc:sldChg chg="del">
        <pc:chgData name="Megha Narendra Simha" userId="232387a7-bc30-4e81-9c8b-48dd3bad174d" providerId="ADAL" clId="{94CC8C6A-531B-5230-BF26-369D9A2ED91F}" dt="2026-02-16T05:04:56.840" v="161" actId="2696"/>
        <pc:sldMkLst>
          <pc:docMk/>
          <pc:sldMk cId="3681027000" sldId="279"/>
        </pc:sldMkLst>
      </pc:sldChg>
      <pc:sldChg chg="del">
        <pc:chgData name="Megha Narendra Simha" userId="232387a7-bc30-4e81-9c8b-48dd3bad174d" providerId="ADAL" clId="{94CC8C6A-531B-5230-BF26-369D9A2ED91F}" dt="2026-02-16T05:04:58.143" v="162" actId="2696"/>
        <pc:sldMkLst>
          <pc:docMk/>
          <pc:sldMk cId="1743404750" sldId="280"/>
        </pc:sldMkLst>
      </pc:sldChg>
      <pc:sldChg chg="modSp mod">
        <pc:chgData name="Megha Narendra Simha" userId="232387a7-bc30-4e81-9c8b-48dd3bad174d" providerId="ADAL" clId="{94CC8C6A-531B-5230-BF26-369D9A2ED91F}" dt="2026-02-09T05:51:28.771" v="158"/>
        <pc:sldMkLst>
          <pc:docMk/>
          <pc:sldMk cId="853444518" sldId="291"/>
        </pc:sldMkLst>
        <pc:spChg chg="mod">
          <ac:chgData name="Megha Narendra Simha" userId="232387a7-bc30-4e81-9c8b-48dd3bad174d" providerId="ADAL" clId="{94CC8C6A-531B-5230-BF26-369D9A2ED91F}" dt="2026-02-09T05:51:28.771" v="158"/>
          <ac:spMkLst>
            <pc:docMk/>
            <pc:sldMk cId="853444518" sldId="291"/>
            <ac:spMk id="3" creationId="{74E08E66-EF57-AA8F-50E0-881C90F5C75B}"/>
          </ac:spMkLst>
        </pc:spChg>
      </pc:sldChg>
      <pc:sldChg chg="addSp delSp modSp new mod">
        <pc:chgData name="Megha Narendra Simha" userId="232387a7-bc30-4e81-9c8b-48dd3bad174d" providerId="ADAL" clId="{94CC8C6A-531B-5230-BF26-369D9A2ED91F}" dt="2026-02-16T05:09:09.394" v="218" actId="2711"/>
        <pc:sldMkLst>
          <pc:docMk/>
          <pc:sldMk cId="1827027823" sldId="301"/>
        </pc:sldMkLst>
        <pc:spChg chg="mod">
          <ac:chgData name="Megha Narendra Simha" userId="232387a7-bc30-4e81-9c8b-48dd3bad174d" providerId="ADAL" clId="{94CC8C6A-531B-5230-BF26-369D9A2ED91F}" dt="2026-02-16T05:05:42.224" v="180" actId="20577"/>
          <ac:spMkLst>
            <pc:docMk/>
            <pc:sldMk cId="1827027823" sldId="301"/>
            <ac:spMk id="2" creationId="{CFF41364-F198-939F-5112-3F071B41C73A}"/>
          </ac:spMkLst>
        </pc:spChg>
        <pc:spChg chg="mod">
          <ac:chgData name="Megha Narendra Simha" userId="232387a7-bc30-4e81-9c8b-48dd3bad174d" providerId="ADAL" clId="{94CC8C6A-531B-5230-BF26-369D9A2ED91F}" dt="2026-02-16T05:08:54.708" v="215" actId="21"/>
          <ac:spMkLst>
            <pc:docMk/>
            <pc:sldMk cId="1827027823" sldId="301"/>
            <ac:spMk id="3" creationId="{29311E33-7FDE-D217-07A1-7103ADABA605}"/>
          </ac:spMkLst>
        </pc:spChg>
        <pc:spChg chg="add del mod">
          <ac:chgData name="Megha Narendra Simha" userId="232387a7-bc30-4e81-9c8b-48dd3bad174d" providerId="ADAL" clId="{94CC8C6A-531B-5230-BF26-369D9A2ED91F}" dt="2026-02-16T05:09:03.398" v="217"/>
          <ac:spMkLst>
            <pc:docMk/>
            <pc:sldMk cId="1827027823" sldId="301"/>
            <ac:spMk id="6" creationId="{A213365F-B849-9AA9-FC81-8041D209D59A}"/>
          </ac:spMkLst>
        </pc:spChg>
        <pc:spChg chg="add mod">
          <ac:chgData name="Megha Narendra Simha" userId="232387a7-bc30-4e81-9c8b-48dd3bad174d" providerId="ADAL" clId="{94CC8C6A-531B-5230-BF26-369D9A2ED91F}" dt="2026-02-16T05:09:09.394" v="218" actId="2711"/>
          <ac:spMkLst>
            <pc:docMk/>
            <pc:sldMk cId="1827027823" sldId="301"/>
            <ac:spMk id="7" creationId="{17509E48-B5CA-6EE2-4F86-E0D191051904}"/>
          </ac:spMkLst>
        </pc:spChg>
      </pc:sldChg>
      <pc:sldChg chg="modSp new mod">
        <pc:chgData name="Megha Narendra Simha" userId="232387a7-bc30-4e81-9c8b-48dd3bad174d" providerId="ADAL" clId="{94CC8C6A-531B-5230-BF26-369D9A2ED91F}" dt="2026-02-16T05:12:57.295" v="335"/>
        <pc:sldMkLst>
          <pc:docMk/>
          <pc:sldMk cId="4285533043" sldId="302"/>
        </pc:sldMkLst>
        <pc:spChg chg="mod">
          <ac:chgData name="Megha Narendra Simha" userId="232387a7-bc30-4e81-9c8b-48dd3bad174d" providerId="ADAL" clId="{94CC8C6A-531B-5230-BF26-369D9A2ED91F}" dt="2026-02-16T05:12:57.295" v="335"/>
          <ac:spMkLst>
            <pc:docMk/>
            <pc:sldMk cId="4285533043" sldId="302"/>
            <ac:spMk id="2" creationId="{609381A2-6CF7-C7BD-471E-0A4BA6107F82}"/>
          </ac:spMkLst>
        </pc:spChg>
        <pc:spChg chg="mod">
          <ac:chgData name="Megha Narendra Simha" userId="232387a7-bc30-4e81-9c8b-48dd3bad174d" providerId="ADAL" clId="{94CC8C6A-531B-5230-BF26-369D9A2ED91F}" dt="2026-02-16T05:12:43.848" v="334" actId="20577"/>
          <ac:spMkLst>
            <pc:docMk/>
            <pc:sldMk cId="4285533043" sldId="302"/>
            <ac:spMk id="3" creationId="{787EA1D4-0034-DAFE-F542-6CB4C2A7CB1F}"/>
          </ac:spMkLst>
        </pc:spChg>
      </pc:sldChg>
    </pc:docChg>
  </pc:docChgLst>
  <pc:docChgLst>
    <pc:chgData name="Megha Narendra Simha" userId="S::narendrasimhamegha@cityuniversity.edu::232387a7-bc30-4e81-9c8b-48dd3bad174d" providerId="AD" clId="Web-{4119BF0F-A7C0-B876-5376-0FC6F81C9089}"/>
    <pc:docChg chg="modSld">
      <pc:chgData name="Megha Narendra Simha" userId="S::narendrasimhamegha@cityuniversity.edu::232387a7-bc30-4e81-9c8b-48dd3bad174d" providerId="AD" clId="Web-{4119BF0F-A7C0-B876-5376-0FC6F81C9089}" dt="2026-02-14T01:03:08.566" v="44" actId="14100"/>
      <pc:docMkLst>
        <pc:docMk/>
      </pc:docMkLst>
      <pc:sldChg chg="modSp">
        <pc:chgData name="Megha Narendra Simha" userId="S::narendrasimhamegha@cityuniversity.edu::232387a7-bc30-4e81-9c8b-48dd3bad174d" providerId="AD" clId="Web-{4119BF0F-A7C0-B876-5376-0FC6F81C9089}" dt="2026-02-14T01:02:18.331" v="43" actId="1076"/>
        <pc:sldMkLst>
          <pc:docMk/>
          <pc:sldMk cId="2425647436" sldId="274"/>
        </pc:sldMkLst>
        <pc:spChg chg="mod">
          <ac:chgData name="Megha Narendra Simha" userId="S::narendrasimhamegha@cityuniversity.edu::232387a7-bc30-4e81-9c8b-48dd3bad174d" providerId="AD" clId="Web-{4119BF0F-A7C0-B876-5376-0FC6F81C9089}" dt="2026-02-14T01:02:18.331" v="43" actId="1076"/>
          <ac:spMkLst>
            <pc:docMk/>
            <pc:sldMk cId="2425647436" sldId="274"/>
            <ac:spMk id="3" creationId="{00000000-0000-0000-0000-000000000000}"/>
          </ac:spMkLst>
        </pc:spChg>
        <pc:spChg chg="mod">
          <ac:chgData name="Megha Narendra Simha" userId="S::narendrasimhamegha@cityuniversity.edu::232387a7-bc30-4e81-9c8b-48dd3bad174d" providerId="AD" clId="Web-{4119BF0F-A7C0-B876-5376-0FC6F81C9089}" dt="2026-02-14T01:02:15.550" v="42" actId="1076"/>
          <ac:spMkLst>
            <pc:docMk/>
            <pc:sldMk cId="2425647436" sldId="274"/>
            <ac:spMk id="7" creationId="{71785CF5-43EA-5192-2773-224B0E81FC74}"/>
          </ac:spMkLst>
        </pc:spChg>
      </pc:sldChg>
      <pc:sldChg chg="modSp">
        <pc:chgData name="Megha Narendra Simha" userId="S::narendrasimhamegha@cityuniversity.edu::232387a7-bc30-4e81-9c8b-48dd3bad174d" providerId="AD" clId="Web-{4119BF0F-A7C0-B876-5376-0FC6F81C9089}" dt="2026-02-14T01:03:08.566" v="44" actId="14100"/>
        <pc:sldMkLst>
          <pc:docMk/>
          <pc:sldMk cId="2664806007" sldId="289"/>
        </pc:sldMkLst>
        <pc:spChg chg="mod">
          <ac:chgData name="Megha Narendra Simha" userId="S::narendrasimhamegha@cityuniversity.edu::232387a7-bc30-4e81-9c8b-48dd3bad174d" providerId="AD" clId="Web-{4119BF0F-A7C0-B876-5376-0FC6F81C9089}" dt="2026-02-14T01:03:08.566" v="44" actId="14100"/>
          <ac:spMkLst>
            <pc:docMk/>
            <pc:sldMk cId="2664806007" sldId="289"/>
            <ac:spMk id="3" creationId="{B3F2E7DC-C54B-8D27-824A-BA652B87CF51}"/>
          </ac:spMkLst>
        </pc:spChg>
      </pc:sldChg>
    </pc:docChg>
  </pc:docChgLst>
  <pc:docChgLst>
    <pc:chgData name="Megha Narendra Simha" userId="S::narendrasimhamegha@cityuniversity.edu::232387a7-bc30-4e81-9c8b-48dd3bad174d" providerId="AD" clId="Web-{C9C4076E-129B-D650-50AC-7D557551DBC2}"/>
    <pc:docChg chg="modSld">
      <pc:chgData name="Megha Narendra Simha" userId="S::narendrasimhamegha@cityuniversity.edu::232387a7-bc30-4e81-9c8b-48dd3bad174d" providerId="AD" clId="Web-{C9C4076E-129B-D650-50AC-7D557551DBC2}" dt="2026-02-07T02:04:12.893" v="5" actId="20577"/>
      <pc:docMkLst>
        <pc:docMk/>
      </pc:docMkLst>
      <pc:sldChg chg="modSp">
        <pc:chgData name="Megha Narendra Simha" userId="S::narendrasimhamegha@cityuniversity.edu::232387a7-bc30-4e81-9c8b-48dd3bad174d" providerId="AD" clId="Web-{C9C4076E-129B-D650-50AC-7D557551DBC2}" dt="2026-02-07T02:03:44.545" v="2" actId="20577"/>
        <pc:sldMkLst>
          <pc:docMk/>
          <pc:sldMk cId="0" sldId="256"/>
        </pc:sldMkLst>
        <pc:spChg chg="mod">
          <ac:chgData name="Megha Narendra Simha" userId="S::narendrasimhamegha@cityuniversity.edu::232387a7-bc30-4e81-9c8b-48dd3bad174d" providerId="AD" clId="Web-{C9C4076E-129B-D650-50AC-7D557551DBC2}" dt="2026-02-07T02:03:44.545" v="2" actId="20577"/>
          <ac:spMkLst>
            <pc:docMk/>
            <pc:sldMk cId="0" sldId="256"/>
            <ac:spMk id="14" creationId="{00000000-0000-0000-0000-000000000000}"/>
          </ac:spMkLst>
        </pc:spChg>
      </pc:sldChg>
      <pc:sldChg chg="modSp">
        <pc:chgData name="Megha Narendra Simha" userId="S::narendrasimhamegha@cityuniversity.edu::232387a7-bc30-4e81-9c8b-48dd3bad174d" providerId="AD" clId="Web-{C9C4076E-129B-D650-50AC-7D557551DBC2}" dt="2026-02-07T02:04:12.893" v="5" actId="20577"/>
        <pc:sldMkLst>
          <pc:docMk/>
          <pc:sldMk cId="2019697153" sldId="290"/>
        </pc:sldMkLst>
      </pc:sldChg>
    </pc:docChg>
  </pc:docChgLst>
  <pc:docChgLst>
    <pc:chgData name="Megha Narendra Simha" userId="S::narendrasimhamegha@cityuniversity.edu::232387a7-bc30-4e81-9c8b-48dd3bad174d" providerId="AD" clId="Web-{CC3FB592-B791-30DB-BAEA-FF9D68FA26E3}"/>
    <pc:docChg chg="modSld">
      <pc:chgData name="Megha Narendra Simha" userId="S::narendrasimhamegha@cityuniversity.edu::232387a7-bc30-4e81-9c8b-48dd3bad174d" providerId="AD" clId="Web-{CC3FB592-B791-30DB-BAEA-FF9D68FA26E3}" dt="2026-01-18T04:15:06.228" v="26" actId="20577"/>
      <pc:docMkLst>
        <pc:docMk/>
      </pc:docMkLst>
      <pc:sldChg chg="modSp">
        <pc:chgData name="Megha Narendra Simha" userId="S::narendrasimhamegha@cityuniversity.edu::232387a7-bc30-4e81-9c8b-48dd3bad174d" providerId="AD" clId="Web-{CC3FB592-B791-30DB-BAEA-FF9D68FA26E3}" dt="2026-01-18T04:13:38.554" v="15" actId="20577"/>
        <pc:sldMkLst>
          <pc:docMk/>
          <pc:sldMk cId="0" sldId="256"/>
        </pc:sldMkLst>
        <pc:spChg chg="mod">
          <ac:chgData name="Megha Narendra Simha" userId="S::narendrasimhamegha@cityuniversity.edu::232387a7-bc30-4e81-9c8b-48dd3bad174d" providerId="AD" clId="Web-{CC3FB592-B791-30DB-BAEA-FF9D68FA26E3}" dt="2026-01-18T04:13:38.554" v="15" actId="20577"/>
          <ac:spMkLst>
            <pc:docMk/>
            <pc:sldMk cId="0" sldId="256"/>
            <ac:spMk id="184" creationId="{00000000-0000-0000-0000-000000000000}"/>
          </ac:spMkLst>
        </pc:spChg>
      </pc:sldChg>
      <pc:sldChg chg="modSp">
        <pc:chgData name="Megha Narendra Simha" userId="S::narendrasimhamegha@cityuniversity.edu::232387a7-bc30-4e81-9c8b-48dd3bad174d" providerId="AD" clId="Web-{CC3FB592-B791-30DB-BAEA-FF9D68FA26E3}" dt="2026-01-18T04:14:30.665" v="23" actId="20577"/>
        <pc:sldMkLst>
          <pc:docMk/>
          <pc:sldMk cId="3443371739" sldId="275"/>
        </pc:sldMkLst>
        <pc:spChg chg="mod">
          <ac:chgData name="Megha Narendra Simha" userId="S::narendrasimhamegha@cityuniversity.edu::232387a7-bc30-4e81-9c8b-48dd3bad174d" providerId="AD" clId="Web-{CC3FB592-B791-30DB-BAEA-FF9D68FA26E3}" dt="2026-01-18T04:14:30.665" v="23" actId="20577"/>
          <ac:spMkLst>
            <pc:docMk/>
            <pc:sldMk cId="3443371739" sldId="275"/>
            <ac:spMk id="3" creationId="{00000000-0000-0000-0000-000000000000}"/>
          </ac:spMkLst>
        </pc:spChg>
      </pc:sldChg>
      <pc:sldChg chg="modSp">
        <pc:chgData name="Megha Narendra Simha" userId="S::narendrasimhamegha@cityuniversity.edu::232387a7-bc30-4e81-9c8b-48dd3bad174d" providerId="AD" clId="Web-{CC3FB592-B791-30DB-BAEA-FF9D68FA26E3}" dt="2026-01-18T04:15:06.228" v="26" actId="20577"/>
        <pc:sldMkLst>
          <pc:docMk/>
          <pc:sldMk cId="3680760769" sldId="277"/>
        </pc:sldMkLst>
        <pc:spChg chg="mod">
          <ac:chgData name="Megha Narendra Simha" userId="S::narendrasimhamegha@cityuniversity.edu::232387a7-bc30-4e81-9c8b-48dd3bad174d" providerId="AD" clId="Web-{CC3FB592-B791-30DB-BAEA-FF9D68FA26E3}" dt="2026-01-18T04:15:06.228" v="26" actId="20577"/>
          <ac:spMkLst>
            <pc:docMk/>
            <pc:sldMk cId="3680760769" sldId="277"/>
            <ac:spMk id="3" creationId="{00000000-0000-0000-0000-000000000000}"/>
          </ac:spMkLst>
        </pc:spChg>
      </pc:sldChg>
    </pc:docChg>
  </pc:docChgLst>
  <pc:docChgLst>
    <pc:chgData name="Megha Narendra Simha" userId="S::narendrasimhamegha@cityuniversity.edu::232387a7-bc30-4e81-9c8b-48dd3bad174d" providerId="AD" clId="Web-{1DE3AE6C-5FC3-0BAB-0CF9-6969759F681C}"/>
    <pc:docChg chg="modSld sldOrd">
      <pc:chgData name="Megha Narendra Simha" userId="S::narendrasimhamegha@cityuniversity.edu::232387a7-bc30-4e81-9c8b-48dd3bad174d" providerId="AD" clId="Web-{1DE3AE6C-5FC3-0BAB-0CF9-6969759F681C}" dt="2026-01-25T21:47:42.998" v="78" actId="14100"/>
      <pc:docMkLst>
        <pc:docMk/>
      </pc:docMkLst>
      <pc:sldChg chg="modSp">
        <pc:chgData name="Megha Narendra Simha" userId="S::narendrasimhamegha@cityuniversity.edu::232387a7-bc30-4e81-9c8b-48dd3bad174d" providerId="AD" clId="Web-{1DE3AE6C-5FC3-0BAB-0CF9-6969759F681C}" dt="2026-01-25T21:47:42.998" v="78" actId="14100"/>
        <pc:sldMkLst>
          <pc:docMk/>
          <pc:sldMk cId="2425647436" sldId="274"/>
        </pc:sldMkLst>
        <pc:spChg chg="mod">
          <ac:chgData name="Megha Narendra Simha" userId="S::narendrasimhamegha@cityuniversity.edu::232387a7-bc30-4e81-9c8b-48dd3bad174d" providerId="AD" clId="Web-{1DE3AE6C-5FC3-0BAB-0CF9-6969759F681C}" dt="2026-01-25T21:47:42.998" v="78" actId="14100"/>
          <ac:spMkLst>
            <pc:docMk/>
            <pc:sldMk cId="2425647436" sldId="274"/>
            <ac:spMk id="3" creationId="{00000000-0000-0000-0000-000000000000}"/>
          </ac:spMkLst>
        </pc:spChg>
      </pc:sldChg>
      <pc:sldChg chg="modSp">
        <pc:chgData name="Megha Narendra Simha" userId="S::narendrasimhamegha@cityuniversity.edu::232387a7-bc30-4e81-9c8b-48dd3bad174d" providerId="AD" clId="Web-{1DE3AE6C-5FC3-0BAB-0CF9-6969759F681C}" dt="2026-01-25T21:47:06.248" v="51" actId="20577"/>
        <pc:sldMkLst>
          <pc:docMk/>
          <pc:sldMk cId="3443371739" sldId="275"/>
        </pc:sldMkLst>
        <pc:spChg chg="mod">
          <ac:chgData name="Megha Narendra Simha" userId="S::narendrasimhamegha@cityuniversity.edu::232387a7-bc30-4e81-9c8b-48dd3bad174d" providerId="AD" clId="Web-{1DE3AE6C-5FC3-0BAB-0CF9-6969759F681C}" dt="2026-01-25T21:47:06.248" v="51" actId="20577"/>
          <ac:spMkLst>
            <pc:docMk/>
            <pc:sldMk cId="3443371739" sldId="275"/>
            <ac:spMk id="3" creationId="{00000000-0000-0000-0000-000000000000}"/>
          </ac:spMkLst>
        </pc:spChg>
      </pc:sldChg>
      <pc:sldChg chg="modSp ord">
        <pc:chgData name="Megha Narendra Simha" userId="S::narendrasimhamegha@cityuniversity.edu::232387a7-bc30-4e81-9c8b-48dd3bad174d" providerId="AD" clId="Web-{1DE3AE6C-5FC3-0BAB-0CF9-6969759F681C}" dt="2026-01-25T21:47:02.998" v="50" actId="20577"/>
        <pc:sldMkLst>
          <pc:docMk/>
          <pc:sldMk cId="3680760769" sldId="277"/>
        </pc:sldMkLst>
        <pc:spChg chg="mod">
          <ac:chgData name="Megha Narendra Simha" userId="S::narendrasimhamegha@cityuniversity.edu::232387a7-bc30-4e81-9c8b-48dd3bad174d" providerId="AD" clId="Web-{1DE3AE6C-5FC3-0BAB-0CF9-6969759F681C}" dt="2026-01-25T21:47:02.998" v="50" actId="20577"/>
          <ac:spMkLst>
            <pc:docMk/>
            <pc:sldMk cId="3680760769" sldId="277"/>
            <ac:spMk id="3" creationId="{00000000-0000-0000-0000-000000000000}"/>
          </ac:spMkLst>
        </pc:spChg>
      </pc:sldChg>
      <pc:sldChg chg="modSp">
        <pc:chgData name="Megha Narendra Simha" userId="S::narendrasimhamegha@cityuniversity.edu::232387a7-bc30-4e81-9c8b-48dd3bad174d" providerId="AD" clId="Web-{1DE3AE6C-5FC3-0BAB-0CF9-6969759F681C}" dt="2026-01-25T21:45:44.076" v="38" actId="20577"/>
        <pc:sldMkLst>
          <pc:docMk/>
          <pc:sldMk cId="3183148713" sldId="281"/>
        </pc:sldMkLst>
        <pc:spChg chg="mod">
          <ac:chgData name="Megha Narendra Simha" userId="S::narendrasimhamegha@cityuniversity.edu::232387a7-bc30-4e81-9c8b-48dd3bad174d" providerId="AD" clId="Web-{1DE3AE6C-5FC3-0BAB-0CF9-6969759F681C}" dt="2026-01-25T21:45:44.076" v="38" actId="20577"/>
          <ac:spMkLst>
            <pc:docMk/>
            <pc:sldMk cId="3183148713" sldId="281"/>
            <ac:spMk id="3" creationId="{14D0CC48-5DB1-2AFD-B2EA-A70BE13411C4}"/>
          </ac:spMkLst>
        </pc:spChg>
      </pc:sldChg>
      <pc:sldChg chg="modSp">
        <pc:chgData name="Megha Narendra Simha" userId="S::narendrasimhamegha@cityuniversity.edu::232387a7-bc30-4e81-9c8b-48dd3bad174d" providerId="AD" clId="Web-{1DE3AE6C-5FC3-0BAB-0CF9-6969759F681C}" dt="2026-01-25T21:44:28.967" v="34" actId="20577"/>
        <pc:sldMkLst>
          <pc:docMk/>
          <pc:sldMk cId="2494040256" sldId="282"/>
        </pc:sldMkLst>
        <pc:spChg chg="mod">
          <ac:chgData name="Megha Narendra Simha" userId="S::narendrasimhamegha@cityuniversity.edu::232387a7-bc30-4e81-9c8b-48dd3bad174d" providerId="AD" clId="Web-{1DE3AE6C-5FC3-0BAB-0CF9-6969759F681C}" dt="2026-01-25T21:44:28.967" v="34" actId="20577"/>
          <ac:spMkLst>
            <pc:docMk/>
            <pc:sldMk cId="2494040256" sldId="282"/>
            <ac:spMk id="3" creationId="{8D9C41C7-030C-8F7F-AF15-09C023B4CA4B}"/>
          </ac:spMkLst>
        </pc:spChg>
      </pc:sldChg>
      <pc:sldChg chg="modSp">
        <pc:chgData name="Megha Narendra Simha" userId="S::narendrasimhamegha@cityuniversity.edu::232387a7-bc30-4e81-9c8b-48dd3bad174d" providerId="AD" clId="Web-{1DE3AE6C-5FC3-0BAB-0CF9-6969759F681C}" dt="2026-01-25T21:44:38.967" v="36" actId="20577"/>
        <pc:sldMkLst>
          <pc:docMk/>
          <pc:sldMk cId="899173670" sldId="283"/>
        </pc:sldMkLst>
        <pc:spChg chg="mod">
          <ac:chgData name="Megha Narendra Simha" userId="S::narendrasimhamegha@cityuniversity.edu::232387a7-bc30-4e81-9c8b-48dd3bad174d" providerId="AD" clId="Web-{1DE3AE6C-5FC3-0BAB-0CF9-6969759F681C}" dt="2026-01-25T21:44:38.967" v="36" actId="20577"/>
          <ac:spMkLst>
            <pc:docMk/>
            <pc:sldMk cId="899173670" sldId="283"/>
            <ac:spMk id="3" creationId="{BA65FCDA-E9CD-1A3F-E836-4F3124915F06}"/>
          </ac:spMkLst>
        </pc:spChg>
      </pc:sldChg>
    </pc:docChg>
  </pc:docChgLst>
  <pc:docChgLst>
    <pc:chgData name="Megha Narendra Simha" userId="S::narendrasimhamegha@cityuniversity.edu::232387a7-bc30-4e81-9c8b-48dd3bad174d" providerId="AD" clId="Web-{A3EE6840-FBB3-4450-EC59-4B326960A289}"/>
    <pc:docChg chg="addSld delSld modSld">
      <pc:chgData name="Megha Narendra Simha" userId="S::narendrasimhamegha@cityuniversity.edu::232387a7-bc30-4e81-9c8b-48dd3bad174d" providerId="AD" clId="Web-{A3EE6840-FBB3-4450-EC59-4B326960A289}" dt="2026-01-17T01:59:48.249" v="96" actId="20577"/>
      <pc:docMkLst>
        <pc:docMk/>
      </pc:docMkLst>
      <pc:sldChg chg="modSp">
        <pc:chgData name="Megha Narendra Simha" userId="S::narendrasimhamegha@cityuniversity.edu::232387a7-bc30-4e81-9c8b-48dd3bad174d" providerId="AD" clId="Web-{A3EE6840-FBB3-4450-EC59-4B326960A289}" dt="2026-01-17T01:48:50.617" v="3" actId="20577"/>
        <pc:sldMkLst>
          <pc:docMk/>
          <pc:sldMk cId="0" sldId="256"/>
        </pc:sldMkLst>
        <pc:spChg chg="mod">
          <ac:chgData name="Megha Narendra Simha" userId="S::narendrasimhamegha@cityuniversity.edu::232387a7-bc30-4e81-9c8b-48dd3bad174d" providerId="AD" clId="Web-{A3EE6840-FBB3-4450-EC59-4B326960A289}" dt="2026-01-17T01:48:50.617" v="3" actId="20577"/>
          <ac:spMkLst>
            <pc:docMk/>
            <pc:sldMk cId="0" sldId="256"/>
            <ac:spMk id="184" creationId="{00000000-0000-0000-0000-000000000000}"/>
          </ac:spMkLst>
        </pc:spChg>
      </pc:sldChg>
      <pc:sldChg chg="modSp">
        <pc:chgData name="Megha Narendra Simha" userId="S::narendrasimhamegha@cityuniversity.edu::232387a7-bc30-4e81-9c8b-48dd3bad174d" providerId="AD" clId="Web-{A3EE6840-FBB3-4450-EC59-4B326960A289}" dt="2026-01-17T01:49:54.929" v="19" actId="20577"/>
        <pc:sldMkLst>
          <pc:docMk/>
          <pc:sldMk cId="2425647436" sldId="274"/>
        </pc:sldMkLst>
        <pc:spChg chg="mod">
          <ac:chgData name="Megha Narendra Simha" userId="S::narendrasimhamegha@cityuniversity.edu::232387a7-bc30-4e81-9c8b-48dd3bad174d" providerId="AD" clId="Web-{A3EE6840-FBB3-4450-EC59-4B326960A289}" dt="2026-01-17T01:49:54.929" v="19" actId="20577"/>
          <ac:spMkLst>
            <pc:docMk/>
            <pc:sldMk cId="2425647436" sldId="274"/>
            <ac:spMk id="3" creationId="{00000000-0000-0000-0000-000000000000}"/>
          </ac:spMkLst>
        </pc:spChg>
      </pc:sldChg>
      <pc:sldChg chg="modSp">
        <pc:chgData name="Megha Narendra Simha" userId="S::narendrasimhamegha@cityuniversity.edu::232387a7-bc30-4e81-9c8b-48dd3bad174d" providerId="AD" clId="Web-{A3EE6840-FBB3-4450-EC59-4B326960A289}" dt="2026-01-17T01:53:02.061" v="41" actId="20577"/>
        <pc:sldMkLst>
          <pc:docMk/>
          <pc:sldMk cId="3680760769" sldId="277"/>
        </pc:sldMkLst>
        <pc:spChg chg="mod">
          <ac:chgData name="Megha Narendra Simha" userId="S::narendrasimhamegha@cityuniversity.edu::232387a7-bc30-4e81-9c8b-48dd3bad174d" providerId="AD" clId="Web-{A3EE6840-FBB3-4450-EC59-4B326960A289}" dt="2026-01-17T01:53:02.061" v="41" actId="20577"/>
          <ac:spMkLst>
            <pc:docMk/>
            <pc:sldMk cId="3680760769" sldId="277"/>
            <ac:spMk id="3" creationId="{00000000-0000-0000-0000-000000000000}"/>
          </ac:spMkLst>
        </pc:spChg>
      </pc:sldChg>
      <pc:sldChg chg="modSp">
        <pc:chgData name="Megha Narendra Simha" userId="S::narendrasimhamegha@cityuniversity.edu::232387a7-bc30-4e81-9c8b-48dd3bad174d" providerId="AD" clId="Web-{A3EE6840-FBB3-4450-EC59-4B326960A289}" dt="2026-01-17T01:59:48.249" v="96" actId="20577"/>
        <pc:sldMkLst>
          <pc:docMk/>
          <pc:sldMk cId="2615452523" sldId="278"/>
        </pc:sldMkLst>
        <pc:spChg chg="mod">
          <ac:chgData name="Megha Narendra Simha" userId="S::narendrasimhamegha@cityuniversity.edu::232387a7-bc30-4e81-9c8b-48dd3bad174d" providerId="AD" clId="Web-{A3EE6840-FBB3-4450-EC59-4B326960A289}" dt="2026-01-17T01:59:48.249" v="96" actId="20577"/>
          <ac:spMkLst>
            <pc:docMk/>
            <pc:sldMk cId="2615452523" sldId="278"/>
            <ac:spMk id="3" creationId="{00000000-0000-0000-0000-000000000000}"/>
          </ac:spMkLst>
        </pc:spChg>
      </pc:sldChg>
    </pc:docChg>
  </pc:docChgLst>
  <pc:docChgLst>
    <pc:chgData name="Megha Narendra Simha" userId="S::narendrasimhamegha@cityuniversity.edu::232387a7-bc30-4e81-9c8b-48dd3bad174d" providerId="AD" clId="Web-{AEDF20A4-7041-4A81-0597-0D6CE0C69D84}"/>
    <pc:docChg chg="addSld delSld modSld">
      <pc:chgData name="Megha Narendra Simha" userId="S::narendrasimhamegha@cityuniversity.edu::232387a7-bc30-4e81-9c8b-48dd3bad174d" providerId="AD" clId="Web-{AEDF20A4-7041-4A81-0597-0D6CE0C69D84}" dt="2026-02-09T03:33:55.713" v="287"/>
      <pc:docMkLst>
        <pc:docMk/>
      </pc:docMkLst>
      <pc:sldChg chg="addSp delSp modSp">
        <pc:chgData name="Megha Narendra Simha" userId="S::narendrasimhamegha@cityuniversity.edu::232387a7-bc30-4e81-9c8b-48dd3bad174d" providerId="AD" clId="Web-{AEDF20A4-7041-4A81-0597-0D6CE0C69D84}" dt="2026-02-09T03:26:13.975" v="12" actId="1076"/>
        <pc:sldMkLst>
          <pc:docMk/>
          <pc:sldMk cId="3443371739" sldId="275"/>
        </pc:sldMkLst>
        <pc:spChg chg="mod">
          <ac:chgData name="Megha Narendra Simha" userId="S::narendrasimhamegha@cityuniversity.edu::232387a7-bc30-4e81-9c8b-48dd3bad174d" providerId="AD" clId="Web-{AEDF20A4-7041-4A81-0597-0D6CE0C69D84}" dt="2026-02-09T03:26:13.975" v="12" actId="1076"/>
          <ac:spMkLst>
            <pc:docMk/>
            <pc:sldMk cId="3443371739" sldId="275"/>
            <ac:spMk id="3" creationId="{00000000-0000-0000-0000-000000000000}"/>
          </ac:spMkLst>
        </pc:spChg>
        <pc:picChg chg="add mod">
          <ac:chgData name="Megha Narendra Simha" userId="S::narendrasimhamegha@cityuniversity.edu::232387a7-bc30-4e81-9c8b-48dd3bad174d" providerId="AD" clId="Web-{AEDF20A4-7041-4A81-0597-0D6CE0C69D84}" dt="2026-02-09T03:26:08.272" v="10" actId="1076"/>
          <ac:picMkLst>
            <pc:docMk/>
            <pc:sldMk cId="3443371739" sldId="275"/>
            <ac:picMk id="5" creationId="{AA280A50-892A-9D92-A56B-136AE2D5A525}"/>
          </ac:picMkLst>
        </pc:picChg>
      </pc:sldChg>
      <pc:sldChg chg="addSp modSp">
        <pc:chgData name="Megha Narendra Simha" userId="S::narendrasimhamegha@cityuniversity.edu::232387a7-bc30-4e81-9c8b-48dd3bad174d" providerId="AD" clId="Web-{AEDF20A4-7041-4A81-0597-0D6CE0C69D84}" dt="2026-02-09T03:25:37.803" v="5" actId="14100"/>
        <pc:sldMkLst>
          <pc:docMk/>
          <pc:sldMk cId="3680760769" sldId="277"/>
        </pc:sldMkLst>
        <pc:spChg chg="mod">
          <ac:chgData name="Megha Narendra Simha" userId="S::narendrasimhamegha@cityuniversity.edu::232387a7-bc30-4e81-9c8b-48dd3bad174d" providerId="AD" clId="Web-{AEDF20A4-7041-4A81-0597-0D6CE0C69D84}" dt="2026-02-09T03:25:37.803" v="5" actId="14100"/>
          <ac:spMkLst>
            <pc:docMk/>
            <pc:sldMk cId="3680760769" sldId="277"/>
            <ac:spMk id="3" creationId="{00000000-0000-0000-0000-000000000000}"/>
          </ac:spMkLst>
        </pc:spChg>
        <pc:picChg chg="add mod">
          <ac:chgData name="Megha Narendra Simha" userId="S::narendrasimhamegha@cityuniversity.edu::232387a7-bc30-4e81-9c8b-48dd3bad174d" providerId="AD" clId="Web-{AEDF20A4-7041-4A81-0597-0D6CE0C69D84}" dt="2026-02-09T03:25:35.412" v="4" actId="14100"/>
          <ac:picMkLst>
            <pc:docMk/>
            <pc:sldMk cId="3680760769" sldId="277"/>
            <ac:picMk id="5" creationId="{78FB7752-3E4B-7E5E-14E3-58B92A0BAE7C}"/>
          </ac:picMkLst>
        </pc:picChg>
      </pc:sldChg>
      <pc:sldChg chg="modSp">
        <pc:chgData name="Megha Narendra Simha" userId="S::narendrasimhamegha@cityuniversity.edu::232387a7-bc30-4e81-9c8b-48dd3bad174d" providerId="AD" clId="Web-{AEDF20A4-7041-4A81-0597-0D6CE0C69D84}" dt="2026-02-09T03:28:18.058" v="24"/>
        <pc:sldMkLst>
          <pc:docMk/>
          <pc:sldMk cId="2584682719" sldId="287"/>
        </pc:sldMkLst>
        <pc:graphicFrameChg chg="mod modGraphic">
          <ac:chgData name="Megha Narendra Simha" userId="S::narendrasimhamegha@cityuniversity.edu::232387a7-bc30-4e81-9c8b-48dd3bad174d" providerId="AD" clId="Web-{AEDF20A4-7041-4A81-0597-0D6CE0C69D84}" dt="2026-02-09T03:28:18.058" v="24"/>
          <ac:graphicFrameMkLst>
            <pc:docMk/>
            <pc:sldMk cId="2584682719" sldId="287"/>
            <ac:graphicFrameMk id="5" creationId="{98625466-0C4A-5497-5BC7-022BF1B31E09}"/>
          </ac:graphicFrameMkLst>
        </pc:graphicFrameChg>
      </pc:sldChg>
      <pc:sldChg chg="modSp">
        <pc:chgData name="Megha Narendra Simha" userId="S::narendrasimhamegha@cityuniversity.edu::232387a7-bc30-4e81-9c8b-48dd3bad174d" providerId="AD" clId="Web-{AEDF20A4-7041-4A81-0597-0D6CE0C69D84}" dt="2026-02-09T03:27:44.853" v="21" actId="20577"/>
        <pc:sldMkLst>
          <pc:docMk/>
          <pc:sldMk cId="853444518" sldId="291"/>
        </pc:sldMkLst>
        <pc:spChg chg="mod">
          <ac:chgData name="Megha Narendra Simha" userId="S::narendrasimhamegha@cityuniversity.edu::232387a7-bc30-4e81-9c8b-48dd3bad174d" providerId="AD" clId="Web-{AEDF20A4-7041-4A81-0597-0D6CE0C69D84}" dt="2026-02-09T03:27:44.853" v="21" actId="20577"/>
          <ac:spMkLst>
            <pc:docMk/>
            <pc:sldMk cId="853444518" sldId="291"/>
            <ac:spMk id="3" creationId="{74E08E66-EF57-AA8F-50E0-881C90F5C75B}"/>
          </ac:spMkLst>
        </pc:spChg>
      </pc:sldChg>
    </pc:docChg>
  </pc:docChgLst>
  <pc:docChgLst>
    <pc:chgData name="Megha Narendra Simha" userId="S::narendrasimhamegha@cityuniversity.edu::232387a7-bc30-4e81-9c8b-48dd3bad174d" providerId="AD" clId="Web-{CA984D23-9C4C-C02C-171F-9371C4F547A3}"/>
    <pc:docChg chg="modSld">
      <pc:chgData name="Megha Narendra Simha" userId="S::narendrasimhamegha@cityuniversity.edu::232387a7-bc30-4e81-9c8b-48dd3bad174d" providerId="AD" clId="Web-{CA984D23-9C4C-C02C-171F-9371C4F547A3}" dt="2026-02-13T23:57:42.698" v="1" actId="20577"/>
      <pc:docMkLst>
        <pc:docMk/>
      </pc:docMkLst>
      <pc:sldChg chg="modSp">
        <pc:chgData name="Megha Narendra Simha" userId="S::narendrasimhamegha@cityuniversity.edu::232387a7-bc30-4e81-9c8b-48dd3bad174d" providerId="AD" clId="Web-{CA984D23-9C4C-C02C-171F-9371C4F547A3}" dt="2026-02-13T23:57:42.698" v="1" actId="20577"/>
        <pc:sldMkLst>
          <pc:docMk/>
          <pc:sldMk cId="0" sldId="256"/>
        </pc:sldMkLst>
        <pc:spChg chg="mod">
          <ac:chgData name="Megha Narendra Simha" userId="S::narendrasimhamegha@cityuniversity.edu::232387a7-bc30-4e81-9c8b-48dd3bad174d" providerId="AD" clId="Web-{CA984D23-9C4C-C02C-171F-9371C4F547A3}" dt="2026-02-13T23:57:42.698" v="1" actId="20577"/>
          <ac:spMkLst>
            <pc:docMk/>
            <pc:sldMk cId="0" sldId="256"/>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Gained hands-on experience with a hospital inventory management system; observed how delayed/manual decisions caused resource waste.</a:t>
            </a:r>
          </a:p>
          <a:p>
            <a:r>
              <a:rPr lang="en-US"/>
              <a:t>Realized similar issues exist at a much larger scale in e-commerce inventory, especially for perishable products.</a:t>
            </a:r>
          </a:p>
          <a:p>
            <a:r>
              <a:rPr lang="en-US"/>
              <a:t>Interested in building AI agents that </a:t>
            </a:r>
            <a:r>
              <a:rPr lang="en-US" b="1"/>
              <a:t>reason, collaborate, and make decisions</a:t>
            </a:r>
            <a:r>
              <a:rPr lang="en-US"/>
              <a:t>, not just predict outcomes.</a:t>
            </a:r>
          </a:p>
          <a:p>
            <a:r>
              <a:rPr lang="en-US"/>
              <a:t>Most AI systems are prediction-oriented; real-time, autonomous decision-making is lacking in retail supply chains (</a:t>
            </a:r>
            <a:r>
              <a:rPr lang="en-US" err="1"/>
              <a:t>Aylak</a:t>
            </a:r>
            <a:r>
              <a:rPr lang="en-US"/>
              <a:t>, 2025).</a:t>
            </a:r>
          </a:p>
          <a:p>
            <a:r>
              <a:rPr lang="en-US"/>
              <a:t>This gap inspired the development of </a:t>
            </a:r>
            <a:r>
              <a:rPr lang="en-US" b="1" err="1"/>
              <a:t>SmartCart</a:t>
            </a:r>
            <a:r>
              <a:rPr lang="en-US" b="1"/>
              <a:t> AI</a:t>
            </a:r>
            <a:r>
              <a:rPr lang="en-US"/>
              <a:t>.</a:t>
            </a:r>
          </a:p>
          <a:p>
            <a:r>
              <a:rPr lang="en-US" b="1"/>
              <a:t>Targets:</a:t>
            </a:r>
            <a:r>
              <a:rPr lang="en-US"/>
              <a:t> E-commerce retailers and inventory owners managing perishable/high-turnover goods.</a:t>
            </a:r>
          </a:p>
          <a:p>
            <a:r>
              <a:rPr lang="en-US" b="1"/>
              <a:t>Also applicable to large tech companies and global enterprises</a:t>
            </a:r>
            <a:r>
              <a:rPr lang="en-US"/>
              <a:t> (e.g., Amazon, Walmart, Costco) needing autonomous, real-time decision-making to reduce waste, improve efficiency, and enhance sustainability.</a:t>
            </a:r>
          </a:p>
          <a:p>
            <a:endParaRPr lang="en-US"/>
          </a:p>
        </p:txBody>
      </p:sp>
    </p:spTree>
    <p:extLst>
      <p:ext uri="{BB962C8B-B14F-4D97-AF65-F5344CB8AC3E}">
        <p14:creationId xmlns:p14="http://schemas.microsoft.com/office/powerpoint/2010/main" val="3179427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Food and product waste remain major challenges in retail and e-commerce supply chains, particularly for </a:t>
            </a:r>
            <a:r>
              <a:rPr lang="en-US" b="1"/>
              <a:t>perishable and high-turnover inventory</a:t>
            </a:r>
            <a:r>
              <a:rPr lang="en-US"/>
              <a:t>.</a:t>
            </a:r>
          </a:p>
          <a:p>
            <a:r>
              <a:rPr lang="en-US"/>
              <a:t>While AI is widely used today, most existing systems are </a:t>
            </a:r>
            <a:r>
              <a:rPr lang="en-US" b="1"/>
              <a:t>focused on demand prediction</a:t>
            </a:r>
            <a:r>
              <a:rPr lang="en-US"/>
              <a:t>, not decision-making.</a:t>
            </a:r>
          </a:p>
          <a:p>
            <a:r>
              <a:rPr lang="en-US"/>
              <a:t>Studies by </a:t>
            </a:r>
            <a:r>
              <a:rPr lang="en-US" b="1" err="1"/>
              <a:t>Ankam</a:t>
            </a:r>
            <a:r>
              <a:rPr lang="en-US" b="1"/>
              <a:t> (2025), Bharti (2025), and </a:t>
            </a:r>
            <a:r>
              <a:rPr lang="en-US" b="1" err="1"/>
              <a:t>Bhavikatta</a:t>
            </a:r>
            <a:r>
              <a:rPr lang="en-US" b="1"/>
              <a:t> (2025)</a:t>
            </a:r>
            <a:r>
              <a:rPr lang="en-US"/>
              <a:t> show that current AI tools can forecast demand accurately, but </a:t>
            </a:r>
            <a:r>
              <a:rPr lang="en-US" b="1"/>
              <a:t>fail to prescribe operational actions</a:t>
            </a:r>
            <a:r>
              <a:rPr lang="en-US"/>
              <a:t> when inventory is at risk of expiring or becoming obsolete.</a:t>
            </a:r>
          </a:p>
          <a:p>
            <a:r>
              <a:rPr lang="en-US"/>
              <a:t>As a result, inventory managers still rely on </a:t>
            </a:r>
            <a:r>
              <a:rPr lang="en-US" b="1"/>
              <a:t>manual decisions or static rules</a:t>
            </a:r>
            <a:r>
              <a:rPr lang="en-US"/>
              <a:t>, which slows response time and often leads to unnecessary spoilage and overstock.</a:t>
            </a:r>
          </a:p>
          <a:p>
            <a:r>
              <a:rPr lang="en-US"/>
              <a:t>These systems also lack </a:t>
            </a:r>
            <a:r>
              <a:rPr lang="en-US" b="1"/>
              <a:t>real-time adaptability</a:t>
            </a:r>
            <a:r>
              <a:rPr lang="en-US"/>
              <a:t>, making them ineffective during sudden demand changes or logistics disruptions.</a:t>
            </a:r>
          </a:p>
          <a:p>
            <a:r>
              <a:rPr lang="en-US"/>
              <a:t>As emphasized by </a:t>
            </a:r>
            <a:r>
              <a:rPr lang="en-US" b="1"/>
              <a:t>Samuels (2025)</a:t>
            </a:r>
            <a:r>
              <a:rPr lang="en-US"/>
              <a:t>, achieving sustainability in retail requires AI systems that move beyond prediction to </a:t>
            </a:r>
            <a:r>
              <a:rPr lang="en-US" b="1"/>
              <a:t>autonomous, waste-aware intervention</a:t>
            </a:r>
            <a:r>
              <a:rPr lang="en-US"/>
              <a:t>.</a:t>
            </a:r>
          </a:p>
          <a:p>
            <a:r>
              <a:rPr lang="en-US"/>
              <a:t>This leads to the central problem:</a:t>
            </a:r>
            <a:br>
              <a:rPr lang="en-US"/>
            </a:br>
            <a:r>
              <a:rPr lang="en-US" b="1"/>
              <a:t>How can AI-driven inventory systems move from forecasting demand to prescribing real-time operational actions that actively reduce waste?</a:t>
            </a:r>
            <a:endParaRPr lang="en-US"/>
          </a:p>
        </p:txBody>
      </p:sp>
    </p:spTree>
    <p:extLst>
      <p:ext uri="{BB962C8B-B14F-4D97-AF65-F5344CB8AC3E}">
        <p14:creationId xmlns:p14="http://schemas.microsoft.com/office/powerpoint/2010/main" val="1533144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7332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DEFDD-5D3A-37F2-5717-F6A12B978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DD5FB-26F2-7051-0F90-F6B474A45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00DA57-BAA1-627E-36D0-BAD3CBCB1FF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697068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182385" y="0"/>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atin typeface="+mj-lt"/>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pic>
        <p:nvPicPr>
          <p:cNvPr id="3" name="Picture 2">
            <a:extLst>
              <a:ext uri="{FF2B5EF4-FFF2-40B4-BE49-F238E27FC236}">
                <a16:creationId xmlns:a16="http://schemas.microsoft.com/office/drawing/2014/main" id="{134F7D0F-FE46-C945-87EB-0FD3D356521A}"/>
              </a:ext>
            </a:extLst>
          </p:cNvPr>
          <p:cNvPicPr>
            <a:picLocks noChangeAspect="1"/>
          </p:cNvPicPr>
          <p:nvPr userDrawn="1"/>
        </p:nvPicPr>
        <p:blipFill>
          <a:blip r:embed="rId2"/>
          <a:stretch>
            <a:fillRect/>
          </a:stretch>
        </p:blipFill>
        <p:spPr>
          <a:xfrm>
            <a:off x="0" y="4243277"/>
            <a:ext cx="914400" cy="914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8954610"/>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sz="3600">
                <a:latin typeface="+mj-lt"/>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sz="2800">
                <a:latin typeface="+mn-lt"/>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2" name="Picture 21">
            <a:extLst>
              <a:ext uri="{FF2B5EF4-FFF2-40B4-BE49-F238E27FC236}">
                <a16:creationId xmlns:a16="http://schemas.microsoft.com/office/drawing/2014/main" id="{C8F7DB91-7595-E64B-B07D-A30575B2CB4C}"/>
              </a:ext>
            </a:extLst>
          </p:cNvPr>
          <p:cNvPicPr>
            <a:picLocks noChangeAspect="1"/>
          </p:cNvPicPr>
          <p:nvPr userDrawn="1"/>
        </p:nvPicPr>
        <p:blipFill>
          <a:blip r:embed="rId2"/>
          <a:stretch>
            <a:fillRect/>
          </a:stretch>
        </p:blipFill>
        <p:spPr>
          <a:xfrm>
            <a:off x="0" y="4253392"/>
            <a:ext cx="914400" cy="914400"/>
          </a:xfrm>
          <a:prstGeom prst="rect">
            <a:avLst/>
          </a:prstGeom>
        </p:spPr>
      </p:pic>
    </p:spTree>
    <p:extLst>
      <p:ext uri="{BB962C8B-B14F-4D97-AF65-F5344CB8AC3E}">
        <p14:creationId xmlns:p14="http://schemas.microsoft.com/office/powerpoint/2010/main" val="3086644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tif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a:ea typeface="Roboto Condensed"/>
                <a:cs typeface="Roboto Condensed"/>
                <a:sym typeface="Roboto Condensed"/>
              </a:defRPr>
            </a:lvl1pPr>
            <a:lvl2pPr lvl="1" algn="r">
              <a:buNone/>
              <a:defRPr sz="1200" b="1">
                <a:solidFill>
                  <a:srgbClr val="FFFFFF"/>
                </a:solidFill>
                <a:latin typeface="Roboto Condensed"/>
                <a:ea typeface="Roboto Condensed"/>
                <a:cs typeface="Roboto Condensed"/>
                <a:sym typeface="Roboto Condensed"/>
              </a:defRPr>
            </a:lvl2pPr>
            <a:lvl3pPr lvl="2" algn="r">
              <a:buNone/>
              <a:defRPr sz="1200" b="1">
                <a:solidFill>
                  <a:srgbClr val="FFFFFF"/>
                </a:solidFill>
                <a:latin typeface="Roboto Condensed"/>
                <a:ea typeface="Roboto Condensed"/>
                <a:cs typeface="Roboto Condensed"/>
                <a:sym typeface="Roboto Condensed"/>
              </a:defRPr>
            </a:lvl3pPr>
            <a:lvl4pPr lvl="3" algn="r">
              <a:buNone/>
              <a:defRPr sz="1200" b="1">
                <a:solidFill>
                  <a:srgbClr val="FFFFFF"/>
                </a:solidFill>
                <a:latin typeface="Roboto Condensed"/>
                <a:ea typeface="Roboto Condensed"/>
                <a:cs typeface="Roboto Condensed"/>
                <a:sym typeface="Roboto Condensed"/>
              </a:defRPr>
            </a:lvl4pPr>
            <a:lvl5pPr lvl="4" algn="r">
              <a:buNone/>
              <a:defRPr sz="1200" b="1">
                <a:solidFill>
                  <a:srgbClr val="FFFFFF"/>
                </a:solidFill>
                <a:latin typeface="Roboto Condensed"/>
                <a:ea typeface="Roboto Condensed"/>
                <a:cs typeface="Roboto Condensed"/>
                <a:sym typeface="Roboto Condensed"/>
              </a:defRPr>
            </a:lvl5pPr>
            <a:lvl6pPr lvl="5" algn="r">
              <a:buNone/>
              <a:defRPr sz="1200" b="1">
                <a:solidFill>
                  <a:srgbClr val="FFFFFF"/>
                </a:solidFill>
                <a:latin typeface="Roboto Condensed"/>
                <a:ea typeface="Roboto Condensed"/>
                <a:cs typeface="Roboto Condensed"/>
                <a:sym typeface="Roboto Condensed"/>
              </a:defRPr>
            </a:lvl6pPr>
            <a:lvl7pPr lvl="6" algn="r">
              <a:buNone/>
              <a:defRPr sz="1200" b="1">
                <a:solidFill>
                  <a:srgbClr val="FFFFFF"/>
                </a:solidFill>
                <a:latin typeface="Roboto Condensed"/>
                <a:ea typeface="Roboto Condensed"/>
                <a:cs typeface="Roboto Condensed"/>
                <a:sym typeface="Roboto Condensed"/>
              </a:defRPr>
            </a:lvl7pPr>
            <a:lvl8pPr lvl="7" algn="r">
              <a:buNone/>
              <a:defRPr sz="1200" b="1">
                <a:solidFill>
                  <a:srgbClr val="FFFFFF"/>
                </a:solidFill>
                <a:latin typeface="Roboto Condensed"/>
                <a:ea typeface="Roboto Condensed"/>
                <a:cs typeface="Roboto Condensed"/>
                <a:sym typeface="Roboto Condensed"/>
              </a:defRPr>
            </a:lvl8pPr>
            <a:lvl9pPr lvl="8" algn="r">
              <a:buNone/>
              <a:defRPr sz="1200" b="1">
                <a:solidFill>
                  <a:srgbClr val="FFFFFF"/>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pic>
        <p:nvPicPr>
          <p:cNvPr id="5" name="Picture 4">
            <a:extLst>
              <a:ext uri="{FF2B5EF4-FFF2-40B4-BE49-F238E27FC236}">
                <a16:creationId xmlns:a16="http://schemas.microsoft.com/office/drawing/2014/main" id="{B9B48145-9848-2F4E-A51E-1AF5F3EC5EAD}"/>
              </a:ext>
            </a:extLst>
          </p:cNvPr>
          <p:cNvPicPr>
            <a:picLocks noChangeAspect="1"/>
          </p:cNvPicPr>
          <p:nvPr userDrawn="1"/>
        </p:nvPicPr>
        <p:blipFill>
          <a:blip r:embed="rId5"/>
          <a:stretch>
            <a:fillRect/>
          </a:stretch>
        </p:blipFill>
        <p:spPr>
          <a:xfrm>
            <a:off x="0" y="4243277"/>
            <a:ext cx="914400" cy="9144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transition>
    <p:fade thruBlk="1"/>
  </p:transition>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doi.org/10.35629/5252-07023138"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doi.org/10.71097/ijsat.v16.i1.2644"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32996/jcsts.2025.7.7.1"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hyperlink" Target="https://doi.org/10.1145/3695652.3695701" TargetMode="External"/><Relationship Id="rId3" Type="http://schemas.openxmlformats.org/officeDocument/2006/relationships/hyperlink" Target="https://doi.org/10.71097/ijsat.v16.i1.2644" TargetMode="External"/><Relationship Id="rId7" Type="http://schemas.openxmlformats.org/officeDocument/2006/relationships/hyperlink" Target="https://doi.org/10.1109/icacite57410.2023.10183082"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doi.org/10.32996/jcsts.2025.7.7.1" TargetMode="External"/><Relationship Id="rId5" Type="http://schemas.openxmlformats.org/officeDocument/2006/relationships/hyperlink" Target="https://doi.org/10.35629/5252-07023138" TargetMode="External"/><Relationship Id="rId10" Type="http://schemas.openxmlformats.org/officeDocument/2006/relationships/hyperlink" Target="https://doi.org/10.1145/3670013.3670078" TargetMode="External"/><Relationship Id="rId4" Type="http://schemas.openxmlformats.org/officeDocument/2006/relationships/hyperlink" Target="https://doi.org/10.3390/su17062453" TargetMode="External"/><Relationship Id="rId9" Type="http://schemas.openxmlformats.org/officeDocument/2006/relationships/hyperlink" Target="https://doi.org/10.1109/upcon59197.2023.10434905"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www.kaggle.com/datasets/salahuddinahmedshuvo/grocery-inventory-and-sales-dataset?resource=download" TargetMode="External"/><Relationship Id="rId3" Type="http://schemas.openxmlformats.org/officeDocument/2006/relationships/hyperlink" Target="https://doi.org/10.3389/frai.2024.1477044" TargetMode="External"/><Relationship Id="rId7" Type="http://schemas.openxmlformats.org/officeDocument/2006/relationships/hyperlink" Target="https://www.averydennison.com/en/home/news/press-releases/540-billion-global-food-waste-bill-exposed-for-2026.html"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hyperlink" Target="https://doi.org/10.1109/access.2025.3553854" TargetMode="External"/><Relationship Id="rId5" Type="http://schemas.openxmlformats.org/officeDocument/2006/relationships/hyperlink" Target="https://doi.org/10.2139/ssrn.4889717" TargetMode="External"/><Relationship Id="rId4" Type="http://schemas.openxmlformats.org/officeDocument/2006/relationships/hyperlink" Target="https://doi.org/10.1109/icercs63125.2024.10895116" TargetMode="External"/><Relationship Id="rId9" Type="http://schemas.openxmlformats.org/officeDocument/2006/relationships/hyperlink" Target="https://www.kaggle.com/datasets/anirudhchauhan/retail-store-inventory-forecasting-dataset"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55575" y="1465603"/>
            <a:ext cx="7229074" cy="1003917"/>
          </a:xfrm>
          <a:prstGeom prst="rect">
            <a:avLst/>
          </a:prstGeom>
        </p:spPr>
        <p:txBody>
          <a:bodyPr spcFirstLastPara="1" wrap="square" lIns="91425" tIns="91425" rIns="91425" bIns="91425" anchor="ctr" anchorCtr="0">
            <a:noAutofit/>
          </a:bodyPr>
          <a:lstStyle/>
          <a:p>
            <a:r>
              <a:rPr lang="en-US" sz="2000" err="1">
                <a:latin typeface="+mn-lt"/>
                <a:ea typeface="Times New Roman" panose="02020603050405020304" pitchFamily="18" charset="0"/>
                <a:cs typeface="Arial"/>
              </a:rPr>
              <a:t>SmartCart</a:t>
            </a:r>
            <a:r>
              <a:rPr lang="en-US" sz="2000">
                <a:latin typeface="+mn-lt"/>
                <a:ea typeface="Times New Roman" panose="02020603050405020304" pitchFamily="18" charset="0"/>
                <a:cs typeface="Arial"/>
              </a:rPr>
              <a:t> AI:</a:t>
            </a:r>
            <a:r>
              <a:rPr lang="en-US" sz="2000">
                <a:latin typeface="Arial"/>
                <a:ea typeface="Verdana"/>
                <a:cs typeface="Arial"/>
              </a:rPr>
              <a:t>A Decision-Centric Agentic System for Inventory Waste Reduction and Pricing Optimization </a:t>
            </a:r>
            <a:br>
              <a:rPr lang="en-US" sz="2000">
                <a:effectLst/>
                <a:latin typeface="+mn-lt"/>
                <a:ea typeface="Times New Roman" panose="02020603050405020304" pitchFamily="18" charset="0"/>
              </a:rPr>
            </a:br>
            <a:endParaRPr lang="en-US" sz="2000">
              <a:latin typeface="+mn-lt"/>
            </a:endParaRPr>
          </a:p>
        </p:txBody>
      </p:sp>
      <p:sp>
        <p:nvSpPr>
          <p:cNvPr id="4" name="AutoShape 8" descr="Image result for city university of seattle logo we are all about the finis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Google Shape;214;p13"/>
          <p:cNvSpPr txBox="1">
            <a:spLocks/>
          </p:cNvSpPr>
          <p:nvPr/>
        </p:nvSpPr>
        <p:spPr>
          <a:xfrm>
            <a:off x="155575" y="2571750"/>
            <a:ext cx="6404993" cy="137093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76200" indent="0" algn="ctr">
              <a:buNone/>
            </a:pPr>
            <a:r>
              <a:rPr lang="en-US" sz="1600" dirty="0">
                <a:solidFill>
                  <a:schemeClr val="bg1"/>
                </a:solidFill>
                <a:latin typeface="+mn-lt"/>
              </a:rPr>
              <a:t>Megha Narendra Simha</a:t>
            </a:r>
          </a:p>
          <a:p>
            <a:pPr marL="76200" indent="0" algn="ctr">
              <a:buNone/>
            </a:pPr>
            <a:r>
              <a:rPr lang="en-US" sz="1600" dirty="0">
                <a:solidFill>
                  <a:schemeClr val="bg1"/>
                </a:solidFill>
                <a:latin typeface="+mn-lt"/>
              </a:rPr>
              <a:t>Advisor: Sivakumar Visweswaran</a:t>
            </a:r>
            <a:endParaRPr lang="en-US" sz="1600" dirty="0">
              <a:solidFill>
                <a:schemeClr val="bg1"/>
              </a:solidFill>
              <a:latin typeface="Arial"/>
            </a:endParaRPr>
          </a:p>
          <a:p>
            <a:pPr marL="76200" indent="0" algn="ctr">
              <a:buNone/>
            </a:pPr>
            <a:r>
              <a:rPr lang="en-US" sz="1600">
                <a:solidFill>
                  <a:schemeClr val="bg1"/>
                </a:solidFill>
                <a:latin typeface="+mn-lt"/>
              </a:rPr>
              <a:t>Week 5</a:t>
            </a:r>
            <a:endParaRPr lang="en-US">
              <a:solidFill>
                <a:schemeClr val="bg1"/>
              </a:solidFill>
              <a:latin typeface="+mn-lt"/>
            </a:endParaRPr>
          </a:p>
          <a:p>
            <a:pPr marL="76200" indent="0" algn="ctr">
              <a:buNone/>
            </a:pPr>
            <a:r>
              <a:rPr lang="en-US" sz="1600" dirty="0">
                <a:solidFill>
                  <a:schemeClr val="bg1"/>
                </a:solidFill>
                <a:latin typeface="Arial"/>
              </a:rPr>
              <a:t>Winter 2026</a:t>
            </a:r>
            <a:endParaRPr lang="en-US" dirty="0">
              <a:solidFill>
                <a:schemeClr val="bg1"/>
              </a:solidFill>
            </a:endParaRPr>
          </a:p>
          <a:p>
            <a:pPr marL="76200" indent="0" algn="ctr">
              <a:buNone/>
            </a:pPr>
            <a:r>
              <a:rPr lang="en-US" sz="1600" dirty="0">
                <a:solidFill>
                  <a:schemeClr val="bg1"/>
                </a:solidFill>
                <a:latin typeface="+mn-lt"/>
              </a:rPr>
              <a:t>MSCS</a:t>
            </a:r>
          </a:p>
        </p:txBody>
      </p:sp>
      <p:pic>
        <p:nvPicPr>
          <p:cNvPr id="6" name="Picture 5" descr="A person with long hair wearing a blue shirt&#10;&#10;AI-generated content may be incorrect.">
            <a:extLst>
              <a:ext uri="{FF2B5EF4-FFF2-40B4-BE49-F238E27FC236}">
                <a16:creationId xmlns:a16="http://schemas.microsoft.com/office/drawing/2014/main" id="{0307A487-0FBA-333D-6E4B-A90F2498D624}"/>
              </a:ext>
            </a:extLst>
          </p:cNvPr>
          <p:cNvPicPr>
            <a:picLocks noChangeAspect="1"/>
          </p:cNvPicPr>
          <p:nvPr/>
        </p:nvPicPr>
        <p:blipFill>
          <a:blip r:embed="rId3"/>
          <a:stretch>
            <a:fillRect/>
          </a:stretch>
        </p:blipFill>
        <p:spPr>
          <a:xfrm>
            <a:off x="5011112" y="3109986"/>
            <a:ext cx="1549456" cy="2033514"/>
          </a:xfrm>
          <a:prstGeom prst="rect">
            <a:avLst/>
          </a:prstGeom>
        </p:spPr>
      </p:pic>
      <p:sp>
        <p:nvSpPr>
          <p:cNvPr id="3" name="Rectangle 2">
            <a:extLst>
              <a:ext uri="{FF2B5EF4-FFF2-40B4-BE49-F238E27FC236}">
                <a16:creationId xmlns:a16="http://schemas.microsoft.com/office/drawing/2014/main" id="{958D661D-713E-50D4-6FE0-5CBA367FBC8E}"/>
              </a:ext>
            </a:extLst>
          </p:cNvPr>
          <p:cNvSpPr>
            <a:spLocks noChangeArrowheads="1"/>
          </p:cNvSpPr>
          <p:nvPr/>
        </p:nvSpPr>
        <p:spPr bwMode="auto">
          <a:xfrm>
            <a:off x="9296335" y="-201543"/>
            <a:ext cx="65"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t" latinLnBrk="0" hangingPunct="0">
              <a:lnSpc>
                <a:spcPct val="100000"/>
              </a:lnSpc>
              <a:spcBef>
                <a:spcPct val="0"/>
              </a:spcBef>
              <a:spcAft>
                <a:spcPct val="0"/>
              </a:spcAft>
              <a:buClrTx/>
              <a:buSzTx/>
              <a:buFontTx/>
              <a:buNone/>
              <a:tabLst/>
            </a:pPr>
            <a:endParaRPr lang="en-US" altLang="en-US" sz="1000" b="0" i="0" u="none" strike="noStrike" cap="none" normalizeH="0" baseline="0">
              <a:ln>
                <a:noFill/>
              </a:ln>
              <a:solidFill>
                <a:srgbClr val="242424"/>
              </a:solidFill>
              <a:effectLst/>
              <a:latin typeface="inherit"/>
            </a:endParaRPr>
          </a:p>
          <a:p>
            <a:pPr marL="0" marR="0" lvl="0" indent="0" algn="r" defTabSz="914400" rtl="0" eaLnBrk="0" fontAlgn="base" latinLnBrk="0" hangingPunct="0">
              <a:lnSpc>
                <a:spcPct val="100000"/>
              </a:lnSpc>
              <a:spcBef>
                <a:spcPct val="0"/>
              </a:spcBef>
              <a:spcAft>
                <a:spcPct val="0"/>
              </a:spcAft>
              <a:buClrTx/>
              <a:buSzTx/>
              <a:buFontTx/>
              <a:buNone/>
              <a:tabLst/>
            </a:pPr>
            <a:br>
              <a:rPr lang="en-US" altLang="en-US" sz="1800" b="0" i="0" u="none" strike="noStrike" cap="none" normalizeH="0" baseline="0">
                <a:ln>
                  <a:noFill/>
                </a:ln>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6" name="Picture 2" descr="A robot in a grocery store&#10;&#10;AI-generated content may be incorrect.">
            <a:extLst>
              <a:ext uri="{FF2B5EF4-FFF2-40B4-BE49-F238E27FC236}">
                <a16:creationId xmlns:a16="http://schemas.microsoft.com/office/drawing/2014/main" id="{68D410CB-7482-9BA9-4E16-6819E6C872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0568" y="0"/>
            <a:ext cx="2571750"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Text Placeholder 2"/>
          <p:cNvSpPr>
            <a:spLocks noGrp="1"/>
          </p:cNvSpPr>
          <p:nvPr>
            <p:ph type="body" idx="1"/>
          </p:nvPr>
        </p:nvSpPr>
        <p:spPr>
          <a:xfrm>
            <a:off x="1000445" y="1457105"/>
            <a:ext cx="3571556" cy="3497439"/>
          </a:xfrm>
        </p:spPr>
        <p:txBody>
          <a:bodyPr/>
          <a:lstStyle/>
          <a:p>
            <a:pPr>
              <a:buFont typeface="Arial" panose="020B0604020202020204" pitchFamily="34" charset="0"/>
              <a:buChar char="•"/>
            </a:pPr>
            <a:endParaRPr lang="en-US" sz="2000" dirty="0"/>
          </a:p>
          <a:p>
            <a:pPr>
              <a:buFont typeface="Arial" panose="020B0604020202020204" pitchFamily="34" charset="0"/>
              <a:buChar char="•"/>
            </a:pPr>
            <a:r>
              <a:rPr lang="en-US" sz="2000" dirty="0">
                <a:cs typeface="Arial"/>
              </a:rPr>
              <a:t>Motivation</a:t>
            </a:r>
            <a:endParaRPr lang="en-US" sz="2000" dirty="0"/>
          </a:p>
          <a:p>
            <a:pPr>
              <a:buFont typeface="Arial" panose="020B0604020202020204" pitchFamily="34" charset="0"/>
              <a:buChar char="•"/>
            </a:pPr>
            <a:r>
              <a:rPr lang="en-US" sz="2000" dirty="0"/>
              <a:t>Problem Statement</a:t>
            </a:r>
          </a:p>
          <a:p>
            <a:pPr>
              <a:buFont typeface="Arial" panose="020B0604020202020204" pitchFamily="34" charset="0"/>
              <a:buChar char="•"/>
            </a:pPr>
            <a:r>
              <a:rPr lang="en-US" sz="2000" dirty="0">
                <a:ea typeface="+mn-lt"/>
                <a:cs typeface="+mn-lt"/>
              </a:rPr>
              <a:t>Background</a:t>
            </a:r>
          </a:p>
          <a:p>
            <a:pPr>
              <a:buFont typeface="Arial" panose="020B0604020202020204" pitchFamily="34" charset="0"/>
              <a:buChar char="•"/>
            </a:pPr>
            <a:r>
              <a:rPr lang="en-US" sz="2000" dirty="0">
                <a:cs typeface="Arial"/>
              </a:rPr>
              <a:t>Related Work</a:t>
            </a:r>
            <a:endParaRPr lang="en-US" sz="2000" dirty="0"/>
          </a:p>
          <a:p>
            <a:pPr>
              <a:buFont typeface="Arial" panose="020B0604020202020204" pitchFamily="34" charset="0"/>
              <a:buChar char="•"/>
            </a:pPr>
            <a:r>
              <a:rPr lang="en-US" sz="2000" dirty="0">
                <a:cs typeface="+mn-lt"/>
              </a:rPr>
              <a:t>Synthesis Matrix/Feature List</a:t>
            </a:r>
          </a:p>
          <a:p>
            <a:pPr>
              <a:buFont typeface="Arial" panose="020B0604020202020204" pitchFamily="34" charset="0"/>
              <a:buChar char="•"/>
            </a:pPr>
            <a:endParaRPr lang="en-US" sz="2000" dirty="0">
              <a:latin typeface="+mn-lt"/>
              <a:cs typeface="Arial"/>
            </a:endParaRPr>
          </a:p>
          <a:p>
            <a:pPr>
              <a:buFont typeface="Arial" panose="020B0604020202020204" pitchFamily="34" charset="0"/>
              <a:buChar char="•"/>
            </a:pPr>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7" name="Text Placeholder 2">
            <a:extLst>
              <a:ext uri="{FF2B5EF4-FFF2-40B4-BE49-F238E27FC236}">
                <a16:creationId xmlns:a16="http://schemas.microsoft.com/office/drawing/2014/main" id="{71785CF5-43EA-5192-2773-224B0E81FC74}"/>
              </a:ext>
            </a:extLst>
          </p:cNvPr>
          <p:cNvSpPr txBox="1">
            <a:spLocks/>
          </p:cNvSpPr>
          <p:nvPr/>
        </p:nvSpPr>
        <p:spPr>
          <a:xfrm>
            <a:off x="4286779" y="1074144"/>
            <a:ext cx="4074921" cy="3497439"/>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800" b="0" i="0" u="none" strike="noStrike" cap="none">
                <a:solidFill>
                  <a:srgbClr val="263248"/>
                </a:solidFill>
                <a:latin typeface="+mn-l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buFont typeface="Arial" panose="020B0604020202020204" pitchFamily="34" charset="0"/>
              <a:buChar char="•"/>
            </a:pPr>
            <a:endParaRPr lang="en-US" sz="2000" dirty="0"/>
          </a:p>
          <a:p>
            <a:pPr>
              <a:buFont typeface="Arial" panose="020B0604020202020204" pitchFamily="34" charset="0"/>
              <a:buChar char="•"/>
            </a:pPr>
            <a:endParaRPr lang="en-US" sz="2000" dirty="0"/>
          </a:p>
          <a:p>
            <a:pPr>
              <a:buFont typeface="Arial" panose="020B0604020202020204" pitchFamily="34" charset="0"/>
              <a:buChar char="•"/>
            </a:pPr>
            <a:r>
              <a:rPr lang="en-US" sz="2000"/>
              <a:t>Future Work</a:t>
            </a:r>
            <a:endParaRPr lang="en-US" sz="2000" dirty="0"/>
          </a:p>
          <a:p>
            <a:pPr>
              <a:buFont typeface="Arial" panose="020B0604020202020204" pitchFamily="34" charset="0"/>
              <a:buChar char="•"/>
            </a:pPr>
            <a:r>
              <a:rPr lang="en-US" sz="2000"/>
              <a:t>Approach</a:t>
            </a:r>
            <a:endParaRPr lang="en-US" sz="2000" dirty="0"/>
          </a:p>
          <a:p>
            <a:pPr>
              <a:buFont typeface="Arial" panose="020B0604020202020204" pitchFamily="34" charset="0"/>
              <a:buChar char="•"/>
            </a:pPr>
            <a:r>
              <a:rPr lang="en-US" sz="2000">
                <a:cs typeface="Arial"/>
              </a:rPr>
              <a:t>System Architecture</a:t>
            </a:r>
            <a:endParaRPr lang="en-US" sz="2000" dirty="0"/>
          </a:p>
          <a:p>
            <a:pPr>
              <a:buFont typeface="Arial" panose="020B0604020202020204" pitchFamily="34" charset="0"/>
              <a:buChar char="•"/>
            </a:pPr>
            <a:r>
              <a:rPr lang="en-US" sz="2000">
                <a:cs typeface="Arial"/>
              </a:rPr>
              <a:t>ER Diagram</a:t>
            </a:r>
            <a:endParaRPr lang="en-US" sz="2000" dirty="0"/>
          </a:p>
          <a:p>
            <a:pPr>
              <a:buFont typeface="Arial" panose="020B0604020202020204" pitchFamily="34" charset="0"/>
              <a:buChar char="•"/>
            </a:pPr>
            <a:r>
              <a:rPr lang="en-US" sz="2000">
                <a:cs typeface="Arial"/>
              </a:rPr>
              <a:t>Use Case Diagram</a:t>
            </a:r>
            <a:endParaRPr lang="en-US" sz="2000" dirty="0"/>
          </a:p>
          <a:p>
            <a:pPr>
              <a:buFont typeface="Arial" panose="020B0604020202020204" pitchFamily="34" charset="0"/>
              <a:buChar char="•"/>
            </a:pPr>
            <a:r>
              <a:rPr lang="en-US" sz="2000">
                <a:cs typeface="Arial"/>
              </a:rPr>
              <a:t>UI Flow &amp; Design</a:t>
            </a:r>
            <a:endParaRPr lang="en-US" sz="2000" dirty="0">
              <a:cs typeface="Arial"/>
            </a:endParaRPr>
          </a:p>
          <a:p>
            <a:pPr>
              <a:buFont typeface="Arial" panose="020B0604020202020204" pitchFamily="34" charset="0"/>
              <a:buChar char="•"/>
            </a:pPr>
            <a:r>
              <a:rPr lang="en-US" sz="2000">
                <a:cs typeface="Arial"/>
              </a:rPr>
              <a:t>API Design</a:t>
            </a:r>
            <a:endParaRPr lang="en-US" sz="2000" dirty="0">
              <a:cs typeface="Arial"/>
            </a:endParaRPr>
          </a:p>
          <a:p>
            <a:pPr>
              <a:buFont typeface="Arial" panose="020B0604020202020204" pitchFamily="34" charset="0"/>
              <a:buChar char="•"/>
            </a:pPr>
            <a:r>
              <a:rPr lang="en-US" sz="2000" dirty="0"/>
              <a:t>Annotated Bibliography</a:t>
            </a:r>
          </a:p>
          <a:p>
            <a:pPr>
              <a:buFont typeface="Arial" panose="020B0604020202020204" pitchFamily="34" charset="0"/>
              <a:buChar char="•"/>
            </a:pPr>
            <a:r>
              <a:rPr lang="en-US" sz="2000" dirty="0">
                <a:ea typeface="+mn-lt"/>
                <a:cs typeface="+mn-lt"/>
              </a:rPr>
              <a:t>Key References</a:t>
            </a:r>
          </a:p>
          <a:p>
            <a:pPr>
              <a:buFont typeface="Arial" panose="020B0604020202020204" pitchFamily="34" charset="0"/>
              <a:buChar char="•"/>
            </a:pPr>
            <a:endParaRPr lang="en-US" sz="2000" dirty="0">
              <a:ea typeface="+mn-lt"/>
              <a:cs typeface="+mn-lt"/>
            </a:endParaRPr>
          </a:p>
        </p:txBody>
      </p:sp>
    </p:spTree>
    <p:extLst>
      <p:ext uri="{BB962C8B-B14F-4D97-AF65-F5344CB8AC3E}">
        <p14:creationId xmlns:p14="http://schemas.microsoft.com/office/powerpoint/2010/main" val="2425647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Motivation</a:t>
            </a:r>
          </a:p>
        </p:txBody>
      </p:sp>
      <p:sp>
        <p:nvSpPr>
          <p:cNvPr id="3" name="Text Placeholder 2"/>
          <p:cNvSpPr>
            <a:spLocks noGrp="1"/>
          </p:cNvSpPr>
          <p:nvPr>
            <p:ph type="body" idx="1"/>
          </p:nvPr>
        </p:nvSpPr>
        <p:spPr>
          <a:xfrm>
            <a:off x="814274" y="1495329"/>
            <a:ext cx="4079847" cy="2998756"/>
          </a:xfrm>
        </p:spPr>
        <p:txBody>
          <a:bodyPr/>
          <a:lstStyle/>
          <a:p>
            <a:pPr marL="285750" indent="-285750"/>
            <a:r>
              <a:rPr lang="en-US" sz="1400">
                <a:solidFill>
                  <a:schemeClr val="tx1"/>
                </a:solidFill>
                <a:ea typeface="+mn-lt"/>
                <a:cs typeface="+mn-lt"/>
              </a:rPr>
              <a:t>Food and product waste remains high as retail AI systems focus on demand prediction rather than real-time intervention.</a:t>
            </a:r>
          </a:p>
          <a:p>
            <a:pPr marL="285750" indent="-285750"/>
            <a:r>
              <a:rPr lang="en-US" sz="1400">
                <a:solidFill>
                  <a:schemeClr val="tx1"/>
                </a:solidFill>
                <a:ea typeface="+mn-lt"/>
                <a:cs typeface="+mn-lt"/>
              </a:rPr>
              <a:t>This results in up to $540B in global losses, with nearly one-third of food retail revenue wasted and limited waste visibility (</a:t>
            </a:r>
            <a:r>
              <a:rPr lang="en-US" sz="1400" err="1">
                <a:solidFill>
                  <a:schemeClr val="tx1"/>
                </a:solidFill>
                <a:ea typeface="+mn-lt"/>
                <a:cs typeface="+mn-lt"/>
              </a:rPr>
              <a:t>Aylak</a:t>
            </a:r>
            <a:r>
              <a:rPr lang="en-US" sz="1400">
                <a:solidFill>
                  <a:schemeClr val="tx1"/>
                </a:solidFill>
                <a:ea typeface="+mn-lt"/>
                <a:cs typeface="+mn-lt"/>
              </a:rPr>
              <a:t>, 2025; Avery Dennison, n.d.).</a:t>
            </a:r>
          </a:p>
          <a:p>
            <a:pPr marL="285750" indent="-285750"/>
            <a:r>
              <a:rPr lang="en-US" sz="1400">
                <a:solidFill>
                  <a:schemeClr val="tx1"/>
                </a:solidFill>
                <a:ea typeface="+mn-lt"/>
                <a:cs typeface="+mn-lt"/>
              </a:rPr>
              <a:t>Current systems rarely apply dynamic pricing, discounting, or bundling for perishable goods.</a:t>
            </a:r>
          </a:p>
          <a:p>
            <a:pPr marL="285750" indent="-285750"/>
            <a:r>
              <a:rPr lang="en-US" sz="1400">
                <a:solidFill>
                  <a:schemeClr val="tx1"/>
                </a:solidFill>
                <a:ea typeface="+mn-lt"/>
                <a:cs typeface="+mn-lt"/>
              </a:rPr>
              <a:t>The lack of adaptive mechanisms limits both waste reduction and revenue optimization (Zhou et al., 2024).</a:t>
            </a:r>
          </a:p>
          <a:p>
            <a:pPr>
              <a:buNone/>
            </a:pPr>
            <a:endParaRPr lang="en-US" sz="1400">
              <a:solidFill>
                <a:schemeClr val="tx1"/>
              </a:solidFill>
              <a:cs typeface="Aria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pic>
        <p:nvPicPr>
          <p:cNvPr id="5" name="Picture 4" descr="A group of women in a grocery store&#10;&#10;AI-generated content may be incorrect.">
            <a:extLst>
              <a:ext uri="{FF2B5EF4-FFF2-40B4-BE49-F238E27FC236}">
                <a16:creationId xmlns:a16="http://schemas.microsoft.com/office/drawing/2014/main" id="{78FB7752-3E4B-7E5E-14E3-58B92A0BAE7C}"/>
              </a:ext>
            </a:extLst>
          </p:cNvPr>
          <p:cNvPicPr>
            <a:picLocks noChangeAspect="1"/>
          </p:cNvPicPr>
          <p:nvPr/>
        </p:nvPicPr>
        <p:blipFill>
          <a:blip r:embed="rId3"/>
          <a:stretch>
            <a:fillRect/>
          </a:stretch>
        </p:blipFill>
        <p:spPr>
          <a:xfrm>
            <a:off x="5598102" y="1502352"/>
            <a:ext cx="3506932" cy="2991716"/>
          </a:xfrm>
          <a:prstGeom prst="rect">
            <a:avLst/>
          </a:prstGeom>
        </p:spPr>
      </p:pic>
    </p:spTree>
    <p:extLst>
      <p:ext uri="{BB962C8B-B14F-4D97-AF65-F5344CB8AC3E}">
        <p14:creationId xmlns:p14="http://schemas.microsoft.com/office/powerpoint/2010/main" val="3680760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Statement</a:t>
            </a:r>
          </a:p>
        </p:txBody>
      </p:sp>
      <p:sp>
        <p:nvSpPr>
          <p:cNvPr id="3" name="Text Placeholder 2"/>
          <p:cNvSpPr>
            <a:spLocks noGrp="1"/>
          </p:cNvSpPr>
          <p:nvPr>
            <p:ph type="body" idx="1"/>
          </p:nvPr>
        </p:nvSpPr>
        <p:spPr>
          <a:xfrm>
            <a:off x="719617" y="1669493"/>
            <a:ext cx="4622579" cy="2675657"/>
          </a:xfrm>
        </p:spPr>
        <p:txBody>
          <a:bodyPr/>
          <a:lstStyle/>
          <a:p>
            <a:pPr marL="285750" indent="-285750"/>
            <a:r>
              <a:rPr lang="en-US" sz="1400">
                <a:ea typeface="+mn-lt"/>
                <a:cs typeface="+mn-lt"/>
              </a:rPr>
              <a:t>How can AI inventory systems shift from prediction to real-time, prescriptive action?</a:t>
            </a:r>
          </a:p>
          <a:p>
            <a:pPr marL="285750" indent="-285750"/>
            <a:r>
              <a:rPr lang="en-US" sz="1400">
                <a:ea typeface="+mn-lt"/>
                <a:cs typeface="+mn-lt"/>
              </a:rPr>
              <a:t>How can dynamic pricing, discounting, bundling, and rerouting respond to inventory risk?</a:t>
            </a:r>
          </a:p>
          <a:p>
            <a:pPr marL="285750" indent="-285750"/>
            <a:r>
              <a:rPr lang="en-US" sz="1400">
                <a:ea typeface="+mn-lt"/>
                <a:cs typeface="+mn-lt"/>
              </a:rPr>
              <a:t>How can real-time interventions reduce waste while maximizing revenue?</a:t>
            </a:r>
          </a:p>
          <a:p>
            <a:pPr marL="285750" indent="-285750"/>
            <a:r>
              <a:rPr lang="en-US" sz="1400">
                <a:ea typeface="+mn-lt"/>
                <a:cs typeface="+mn-lt"/>
              </a:rPr>
              <a:t>How can agent-based intelligence unify forecasting, cost, and execution for end-to-end optimization?</a:t>
            </a:r>
          </a:p>
          <a:p>
            <a:pPr indent="0">
              <a:buNone/>
            </a:pPr>
            <a:r>
              <a:rPr lang="en-US" sz="1400" i="1">
                <a:ea typeface="+mn-lt"/>
                <a:cs typeface="+mn-lt"/>
              </a:rPr>
              <a:t>(</a:t>
            </a:r>
            <a:r>
              <a:rPr lang="en-US" sz="1400" i="1" err="1">
                <a:ea typeface="+mn-lt"/>
                <a:cs typeface="+mn-lt"/>
              </a:rPr>
              <a:t>Ankam</a:t>
            </a:r>
            <a:r>
              <a:rPr lang="en-US" sz="1400" i="1">
                <a:ea typeface="+mn-lt"/>
                <a:cs typeface="+mn-lt"/>
              </a:rPr>
              <a:t>, 2025; Bharti, 2025; </a:t>
            </a:r>
            <a:r>
              <a:rPr lang="en-US" sz="1400" i="1" err="1">
                <a:ea typeface="+mn-lt"/>
                <a:cs typeface="+mn-lt"/>
              </a:rPr>
              <a:t>Bhavikatta</a:t>
            </a:r>
            <a:r>
              <a:rPr lang="en-US" sz="1400" i="1">
                <a:ea typeface="+mn-lt"/>
                <a:cs typeface="+mn-lt"/>
              </a:rPr>
              <a:t>, 2025; Samuels, 2025)</a:t>
            </a:r>
          </a:p>
          <a:p>
            <a:pPr>
              <a:buNone/>
            </a:pPr>
            <a:endParaRPr lang="en-US" sz="1400">
              <a:cs typeface="Aria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pic>
        <p:nvPicPr>
          <p:cNvPr id="5" name="Picture 4" descr="A cartoon of people shopping in a grocery store&#10;&#10;AI-generated content may be incorrect.">
            <a:extLst>
              <a:ext uri="{FF2B5EF4-FFF2-40B4-BE49-F238E27FC236}">
                <a16:creationId xmlns:a16="http://schemas.microsoft.com/office/drawing/2014/main" id="{AA280A50-892A-9D92-A56B-136AE2D5A525}"/>
              </a:ext>
            </a:extLst>
          </p:cNvPr>
          <p:cNvPicPr>
            <a:picLocks noChangeAspect="1"/>
          </p:cNvPicPr>
          <p:nvPr/>
        </p:nvPicPr>
        <p:blipFill>
          <a:blip r:embed="rId3"/>
          <a:stretch>
            <a:fillRect/>
          </a:stretch>
        </p:blipFill>
        <p:spPr>
          <a:xfrm>
            <a:off x="5801590" y="1086715"/>
            <a:ext cx="3342410" cy="3342410"/>
          </a:xfrm>
          <a:prstGeom prst="rect">
            <a:avLst/>
          </a:prstGeom>
        </p:spPr>
      </p:pic>
    </p:spTree>
    <p:extLst>
      <p:ext uri="{BB962C8B-B14F-4D97-AF65-F5344CB8AC3E}">
        <p14:creationId xmlns:p14="http://schemas.microsoft.com/office/powerpoint/2010/main" val="3443371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815E5-9A25-50E4-25B6-2C5958FA4755}"/>
              </a:ext>
            </a:extLst>
          </p:cNvPr>
          <p:cNvSpPr>
            <a:spLocks noGrp="1"/>
          </p:cNvSpPr>
          <p:nvPr>
            <p:ph type="title"/>
          </p:nvPr>
        </p:nvSpPr>
        <p:spPr/>
        <p:txBody>
          <a:bodyPr/>
          <a:lstStyle/>
          <a:p>
            <a:r>
              <a:rPr lang="en-US"/>
              <a:t>Background</a:t>
            </a:r>
          </a:p>
        </p:txBody>
      </p:sp>
      <p:sp>
        <p:nvSpPr>
          <p:cNvPr id="3" name="Text Placeholder 2">
            <a:extLst>
              <a:ext uri="{FF2B5EF4-FFF2-40B4-BE49-F238E27FC236}">
                <a16:creationId xmlns:a16="http://schemas.microsoft.com/office/drawing/2014/main" id="{A0D04D5B-C28D-69C2-62E3-BB6F4A067FB2}"/>
              </a:ext>
            </a:extLst>
          </p:cNvPr>
          <p:cNvSpPr>
            <a:spLocks noGrp="1"/>
          </p:cNvSpPr>
          <p:nvPr>
            <p:ph type="body" idx="1"/>
          </p:nvPr>
        </p:nvSpPr>
        <p:spPr/>
        <p:txBody>
          <a:bodyPr/>
          <a:lstStyle/>
          <a:p>
            <a:r>
              <a:rPr lang="en-US" sz="1600"/>
              <a:t>Shift from EDOQ / JIT to AI-driven inventory models</a:t>
            </a:r>
          </a:p>
          <a:p>
            <a:r>
              <a:rPr lang="en-US" sz="1600"/>
              <a:t>Uses ML, LSTM, RL, and model-agnostic signals</a:t>
            </a:r>
          </a:p>
          <a:p>
            <a:r>
              <a:rPr lang="en-US" sz="1600"/>
              <a:t>Handles 50–100 variables (weather, social media, pricing)</a:t>
            </a:r>
          </a:p>
          <a:p>
            <a:r>
              <a:rPr lang="en-US" sz="1600"/>
              <a:t>Reduces predictive error to 10–15%; accuracy up to 98%</a:t>
            </a:r>
          </a:p>
          <a:p>
            <a:r>
              <a:rPr lang="en-US" sz="1600"/>
              <a:t>Benefits: lower costs, higher revenue, reduced safety stock</a:t>
            </a:r>
          </a:p>
          <a:p>
            <a:r>
              <a:rPr lang="en-US" sz="1600"/>
              <a:t>Implementation challenges: data quality, legacy integration, change management</a:t>
            </a:r>
          </a:p>
        </p:txBody>
      </p:sp>
      <p:sp>
        <p:nvSpPr>
          <p:cNvPr id="4" name="Slide Number Placeholder 3">
            <a:extLst>
              <a:ext uri="{FF2B5EF4-FFF2-40B4-BE49-F238E27FC236}">
                <a16:creationId xmlns:a16="http://schemas.microsoft.com/office/drawing/2014/main" id="{C712A621-E976-994F-B33B-3CE97E6F0A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873283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4019F-8B3D-19DF-11F0-D8C008438A40}"/>
              </a:ext>
            </a:extLst>
          </p:cNvPr>
          <p:cNvSpPr>
            <a:spLocks noGrp="1"/>
          </p:cNvSpPr>
          <p:nvPr>
            <p:ph type="title"/>
          </p:nvPr>
        </p:nvSpPr>
        <p:spPr/>
        <p:txBody>
          <a:bodyPr/>
          <a:lstStyle/>
          <a:p>
            <a:r>
              <a:rPr lang="en-US"/>
              <a:t>Related Work</a:t>
            </a:r>
          </a:p>
        </p:txBody>
      </p:sp>
      <p:sp>
        <p:nvSpPr>
          <p:cNvPr id="3" name="Text Placeholder 2">
            <a:extLst>
              <a:ext uri="{FF2B5EF4-FFF2-40B4-BE49-F238E27FC236}">
                <a16:creationId xmlns:a16="http://schemas.microsoft.com/office/drawing/2014/main" id="{329AC08E-3E11-2DC6-9A97-1A6973312DDE}"/>
              </a:ext>
            </a:extLst>
          </p:cNvPr>
          <p:cNvSpPr>
            <a:spLocks noGrp="1"/>
          </p:cNvSpPr>
          <p:nvPr>
            <p:ph type="body" idx="1"/>
          </p:nvPr>
        </p:nvSpPr>
        <p:spPr/>
        <p:txBody>
          <a:bodyPr/>
          <a:lstStyle/>
          <a:p>
            <a:r>
              <a:rPr lang="en-US" sz="1600"/>
              <a:t>AI improves inventory effectiveness via forecasting, optimization, and risk estimation</a:t>
            </a:r>
          </a:p>
          <a:p>
            <a:r>
              <a:rPr lang="en-US" sz="1600"/>
              <a:t>Prior work mostly predictive, relying on historical data</a:t>
            </a:r>
          </a:p>
          <a:p>
            <a:r>
              <a:rPr lang="en-US" sz="1600"/>
              <a:t>Bharti (2025): ML for forecast &amp; operational efficiency</a:t>
            </a:r>
          </a:p>
          <a:p>
            <a:r>
              <a:rPr lang="en-US" sz="1600" err="1"/>
              <a:t>Ankam</a:t>
            </a:r>
            <a:r>
              <a:rPr lang="en-US" sz="1600"/>
              <a:t> (2025): Analytics + rule-based automation for visibility</a:t>
            </a:r>
          </a:p>
          <a:p>
            <a:r>
              <a:rPr lang="en-US" sz="1600" err="1"/>
              <a:t>Bhavikatta</a:t>
            </a:r>
            <a:r>
              <a:rPr lang="en-US" sz="1600"/>
              <a:t> (2025): Highlights lack of prescriptive actions</a:t>
            </a:r>
          </a:p>
          <a:p>
            <a:r>
              <a:rPr lang="en-US" sz="1600"/>
              <a:t>Gap: Detection exists, but real-time interventions are missing</a:t>
            </a:r>
          </a:p>
        </p:txBody>
      </p:sp>
      <p:sp>
        <p:nvSpPr>
          <p:cNvPr id="4" name="Slide Number Placeholder 3">
            <a:extLst>
              <a:ext uri="{FF2B5EF4-FFF2-40B4-BE49-F238E27FC236}">
                <a16:creationId xmlns:a16="http://schemas.microsoft.com/office/drawing/2014/main" id="{5CF28769-2E5D-FA4F-2376-81B06B905E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2649663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4F952-8C6B-005B-A1C1-93DA74871ACC}"/>
              </a:ext>
            </a:extLst>
          </p:cNvPr>
          <p:cNvSpPr>
            <a:spLocks noGrp="1"/>
          </p:cNvSpPr>
          <p:nvPr>
            <p:ph type="title"/>
          </p:nvPr>
        </p:nvSpPr>
        <p:spPr/>
        <p:txBody>
          <a:bodyPr/>
          <a:lstStyle/>
          <a:p>
            <a:r>
              <a:rPr lang="en-US"/>
              <a:t>Synthesis Matrix</a:t>
            </a:r>
          </a:p>
        </p:txBody>
      </p:sp>
      <p:sp>
        <p:nvSpPr>
          <p:cNvPr id="4" name="Slide Number Placeholder 3">
            <a:extLst>
              <a:ext uri="{FF2B5EF4-FFF2-40B4-BE49-F238E27FC236}">
                <a16:creationId xmlns:a16="http://schemas.microsoft.com/office/drawing/2014/main" id="{D60F522B-DB15-699C-02B5-791B6B662E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graphicFrame>
        <p:nvGraphicFramePr>
          <p:cNvPr id="5" name="Table 4">
            <a:extLst>
              <a:ext uri="{FF2B5EF4-FFF2-40B4-BE49-F238E27FC236}">
                <a16:creationId xmlns:a16="http://schemas.microsoft.com/office/drawing/2014/main" id="{98625466-0C4A-5497-5BC7-022BF1B31E09}"/>
              </a:ext>
            </a:extLst>
          </p:cNvPr>
          <p:cNvGraphicFramePr>
            <a:graphicFrameLocks noGrp="1"/>
          </p:cNvGraphicFramePr>
          <p:nvPr>
            <p:extLst>
              <p:ext uri="{D42A27DB-BD31-4B8C-83A1-F6EECF244321}">
                <p14:modId xmlns:p14="http://schemas.microsoft.com/office/powerpoint/2010/main" val="2973640697"/>
              </p:ext>
            </p:extLst>
          </p:nvPr>
        </p:nvGraphicFramePr>
        <p:xfrm>
          <a:off x="946717" y="1158775"/>
          <a:ext cx="7561579" cy="3577175"/>
        </p:xfrm>
        <a:graphic>
          <a:graphicData uri="http://schemas.openxmlformats.org/drawingml/2006/table">
            <a:tbl>
              <a:tblPr/>
              <a:tblGrid>
                <a:gridCol w="1681543">
                  <a:extLst>
                    <a:ext uri="{9D8B030D-6E8A-4147-A177-3AD203B41FA5}">
                      <a16:colId xmlns:a16="http://schemas.microsoft.com/office/drawing/2014/main" val="2953970202"/>
                    </a:ext>
                  </a:extLst>
                </a:gridCol>
                <a:gridCol w="1017493">
                  <a:extLst>
                    <a:ext uri="{9D8B030D-6E8A-4147-A177-3AD203B41FA5}">
                      <a16:colId xmlns:a16="http://schemas.microsoft.com/office/drawing/2014/main" val="2310818247"/>
                    </a:ext>
                  </a:extLst>
                </a:gridCol>
                <a:gridCol w="1113887">
                  <a:extLst>
                    <a:ext uri="{9D8B030D-6E8A-4147-A177-3AD203B41FA5}">
                      <a16:colId xmlns:a16="http://schemas.microsoft.com/office/drawing/2014/main" val="909818297"/>
                    </a:ext>
                  </a:extLst>
                </a:gridCol>
                <a:gridCol w="1242410">
                  <a:extLst>
                    <a:ext uri="{9D8B030D-6E8A-4147-A177-3AD203B41FA5}">
                      <a16:colId xmlns:a16="http://schemas.microsoft.com/office/drawing/2014/main" val="1960551049"/>
                    </a:ext>
                  </a:extLst>
                </a:gridCol>
                <a:gridCol w="2506246">
                  <a:extLst>
                    <a:ext uri="{9D8B030D-6E8A-4147-A177-3AD203B41FA5}">
                      <a16:colId xmlns:a16="http://schemas.microsoft.com/office/drawing/2014/main" val="2234426457"/>
                    </a:ext>
                  </a:extLst>
                </a:gridCol>
              </a:tblGrid>
              <a:tr h="226375">
                <a:tc>
                  <a:txBody>
                    <a:bodyPr/>
                    <a:lstStyle/>
                    <a:p>
                      <a:pPr algn="l" rtl="0" fontAlgn="base">
                        <a:lnSpc>
                          <a:spcPts val="1214"/>
                        </a:lnSpc>
                        <a:buNone/>
                      </a:pPr>
                      <a:r>
                        <a:rPr lang="en-US" sz="800" b="0" i="0" dirty="0">
                          <a:effectLst/>
                          <a:latin typeface="Arial"/>
                          <a:cs typeface="Arial"/>
                        </a:rPr>
                        <a:t>Criteria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(Bharti, 2025)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a:t>
                      </a:r>
                      <a:r>
                        <a:rPr lang="en-US" sz="800" b="0" i="0" dirty="0" err="1">
                          <a:effectLst/>
                          <a:latin typeface="Arial"/>
                          <a:cs typeface="Arial"/>
                        </a:rPr>
                        <a:t>Ankam</a:t>
                      </a:r>
                      <a:r>
                        <a:rPr lang="en-US" sz="800" b="0" i="0" dirty="0">
                          <a:effectLst/>
                          <a:latin typeface="Arial"/>
                          <a:cs typeface="Arial"/>
                        </a:rPr>
                        <a:t>, 2025)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a:t>
                      </a:r>
                      <a:r>
                        <a:rPr lang="en-US" sz="800" b="0" i="0" dirty="0" err="1">
                          <a:effectLst/>
                          <a:latin typeface="Arial"/>
                          <a:cs typeface="Arial"/>
                        </a:rPr>
                        <a:t>Bhavikatta</a:t>
                      </a:r>
                      <a:r>
                        <a:rPr lang="en-US" sz="800" b="0" i="0" dirty="0">
                          <a:effectLst/>
                          <a:latin typeface="Arial"/>
                          <a:cs typeface="Arial"/>
                        </a:rPr>
                        <a:t>, 2025)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err="1">
                          <a:effectLst/>
                          <a:latin typeface="Arial"/>
                          <a:cs typeface="Arial"/>
                        </a:rPr>
                        <a:t>SmartCart</a:t>
                      </a:r>
                      <a:r>
                        <a:rPr lang="en-US" sz="800" b="0" i="0" dirty="0">
                          <a:effectLst/>
                          <a:latin typeface="Arial"/>
                          <a:cs typeface="Arial"/>
                        </a:rPr>
                        <a:t> AI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7357845"/>
                  </a:ext>
                </a:extLst>
              </a:tr>
              <a:tr h="324546">
                <a:tc>
                  <a:txBody>
                    <a:bodyPr/>
                    <a:lstStyle/>
                    <a:p>
                      <a:pPr algn="l" rtl="0" fontAlgn="base">
                        <a:lnSpc>
                          <a:spcPts val="1214"/>
                        </a:lnSpc>
                        <a:buNone/>
                      </a:pPr>
                      <a:r>
                        <a:rPr lang="en-US" sz="800" b="0" i="0" dirty="0">
                          <a:effectLst/>
                          <a:latin typeface="Arial"/>
                          <a:cs typeface="Arial"/>
                        </a:rPr>
                        <a:t>Primary Focus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AI-driven retail   </a:t>
                      </a:r>
                    </a:p>
                    <a:p>
                      <a:pPr algn="l" rtl="0" fontAlgn="base">
                        <a:lnSpc>
                          <a:spcPts val="1214"/>
                        </a:lnSpc>
                        <a:buNone/>
                      </a:pPr>
                      <a:r>
                        <a:rPr lang="en-US" sz="800" b="0" i="0" dirty="0">
                          <a:effectLst/>
                          <a:latin typeface="Arial"/>
                          <a:cs typeface="Arial"/>
                        </a:rPr>
                        <a:t>inventory optimization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AI-based demand forecasting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Survey of AI methods for stockout and overstock mitigation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Waste-aware autonomous inventory intervention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2610"/>
                  </a:ext>
                </a:extLst>
              </a:tr>
              <a:tr h="315255">
                <a:tc>
                  <a:txBody>
                    <a:bodyPr/>
                    <a:lstStyle/>
                    <a:p>
                      <a:pPr algn="l" rtl="0" fontAlgn="base">
                        <a:lnSpc>
                          <a:spcPts val="1214"/>
                        </a:lnSpc>
                        <a:buNone/>
                      </a:pPr>
                      <a:r>
                        <a:rPr lang="en-US" sz="800" b="0" i="0" dirty="0">
                          <a:effectLst/>
                          <a:latin typeface="Arial"/>
                          <a:cs typeface="Arial"/>
                        </a:rPr>
                        <a:t>Core AI Paradigm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Predictive analytics and optimization models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Forecasting models using historical data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Predictive and analytical review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Agentic, decision-centric AI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757270"/>
                  </a:ext>
                </a:extLst>
              </a:tr>
              <a:tr h="315255">
                <a:tc>
                  <a:txBody>
                    <a:bodyPr/>
                    <a:lstStyle/>
                    <a:p>
                      <a:pPr algn="l" rtl="0" fontAlgn="base">
                        <a:lnSpc>
                          <a:spcPts val="1214"/>
                        </a:lnSpc>
                        <a:buNone/>
                      </a:pPr>
                      <a:r>
                        <a:rPr lang="en-US" sz="800" b="0" i="0" dirty="0">
                          <a:effectLst/>
                          <a:latin typeface="Arial"/>
                          <a:cs typeface="Arial"/>
                        </a:rPr>
                        <a:t>Decision-Making Capability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Rule-based or manual post-analysis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Not addressed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Identifies lack of prescriptive actions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214"/>
                        </a:lnSpc>
                        <a:buNone/>
                      </a:pPr>
                      <a:r>
                        <a:rPr lang="en-US" sz="800" b="0" i="0" u="none" strike="noStrike" noProof="0" dirty="0">
                          <a:effectLst/>
                        </a:rPr>
                        <a:t>Lightweight statistical forecasting (exponential smoothing / moving average/ETS) for short-term demand estimation, combined with model-agnostic LLM-based agentic decision orchestration and explanation via MCP</a:t>
                      </a:r>
                      <a:endParaRPr lang="en-US" sz="800" b="0" i="0" dirty="0">
                        <a:effectLst/>
                        <a:latin typeface="Arial" panose="020B0604020202020204" pitchFamily="34" charset="0"/>
                        <a:cs typeface="Arial" panose="020B0604020202020204" pitchFamily="34" charset="0"/>
                      </a:endParaRP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3859254"/>
                  </a:ext>
                </a:extLst>
              </a:tr>
              <a:tr h="112088">
                <a:tc>
                  <a:txBody>
                    <a:bodyPr/>
                    <a:lstStyle/>
                    <a:p>
                      <a:pPr algn="l" rtl="0" fontAlgn="base">
                        <a:lnSpc>
                          <a:spcPts val="1214"/>
                        </a:lnSpc>
                        <a:buNone/>
                      </a:pPr>
                      <a:r>
                        <a:rPr lang="en-US" sz="800" b="0" i="0" dirty="0">
                          <a:effectLst/>
                          <a:latin typeface="Arial"/>
                          <a:cs typeface="Arial"/>
                        </a:rPr>
                        <a:t>AI Agents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No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No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No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Yes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6662941"/>
                  </a:ext>
                </a:extLst>
              </a:tr>
              <a:tr h="221282">
                <a:tc>
                  <a:txBody>
                    <a:bodyPr/>
                    <a:lstStyle/>
                    <a:p>
                      <a:pPr algn="l" rtl="0" fontAlgn="base">
                        <a:lnSpc>
                          <a:spcPts val="1214"/>
                        </a:lnSpc>
                        <a:buNone/>
                      </a:pPr>
                      <a:r>
                        <a:rPr lang="en-US" sz="800" b="0" i="0" dirty="0">
                          <a:effectLst/>
                          <a:latin typeface="Arial"/>
                          <a:cs typeface="Arial"/>
                        </a:rPr>
                        <a:t>Manual Intervention Required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Yes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Yes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NA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No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383472"/>
                  </a:ext>
                </a:extLst>
              </a:tr>
              <a:tr h="221282">
                <a:tc>
                  <a:txBody>
                    <a:bodyPr/>
                    <a:lstStyle/>
                    <a:p>
                      <a:pPr algn="l" rtl="0" fontAlgn="base">
                        <a:lnSpc>
                          <a:spcPts val="1214"/>
                        </a:lnSpc>
                        <a:buNone/>
                      </a:pPr>
                      <a:r>
                        <a:rPr lang="en-US" sz="800" b="0" i="0" dirty="0">
                          <a:effectLst/>
                          <a:latin typeface="Arial"/>
                          <a:cs typeface="Arial"/>
                        </a:rPr>
                        <a:t>Sustainability </a:t>
                      </a:r>
                      <a:r>
                        <a:rPr lang="en-US" sz="800" b="0" i="0" dirty="0" err="1">
                          <a:effectLst/>
                          <a:latin typeface="Arial"/>
                          <a:cs typeface="Arial"/>
                        </a:rPr>
                        <a:t>Emphisis</a:t>
                      </a:r>
                      <a:r>
                        <a:rPr lang="en-US" sz="800" b="0" i="0" dirty="0">
                          <a:effectLst/>
                          <a:latin typeface="Arial"/>
                          <a:cs typeface="Arial"/>
                        </a:rPr>
                        <a:t>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Secondary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Minimal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Conceptual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Primary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189791"/>
                  </a:ext>
                </a:extLst>
              </a:tr>
              <a:tr h="315255">
                <a:tc>
                  <a:txBody>
                    <a:bodyPr/>
                    <a:lstStyle/>
                    <a:p>
                      <a:pPr algn="l" rtl="0" fontAlgn="base">
                        <a:lnSpc>
                          <a:spcPts val="1214"/>
                        </a:lnSpc>
                        <a:buNone/>
                      </a:pPr>
                      <a:r>
                        <a:rPr lang="en-US" sz="800" b="0" i="0" dirty="0">
                          <a:effectLst/>
                          <a:latin typeface="Arial"/>
                          <a:cs typeface="Arial"/>
                        </a:rPr>
                        <a:t>Model / Algorithm Used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Traditional ML (regression, boosting), optimization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Rule-based + classical forecasting (ARIMA, moving averages)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Statistical &amp; ML methods (regression, ensembles)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Model-agnostic forecasting via MCP + LLM for decision orchestration and explanation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8510858"/>
                  </a:ext>
                </a:extLst>
              </a:tr>
              <a:tr h="221282">
                <a:tc>
                  <a:txBody>
                    <a:bodyPr/>
                    <a:lstStyle/>
                    <a:p>
                      <a:pPr algn="l" rtl="0" fontAlgn="base">
                        <a:lnSpc>
                          <a:spcPts val="1214"/>
                        </a:lnSpc>
                        <a:buNone/>
                      </a:pPr>
                      <a:r>
                        <a:rPr lang="en-US" sz="800" b="0" i="0" dirty="0">
                          <a:effectLst/>
                          <a:latin typeface="Arial"/>
                          <a:cs typeface="Arial"/>
                        </a:rPr>
                        <a:t>Price Optimization Capability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Limited / Not addressed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Minimal / Not addressed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Not addressed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214"/>
                        </a:lnSpc>
                        <a:buNone/>
                      </a:pPr>
                      <a:r>
                        <a:rPr lang="en-US" sz="800" b="0" i="0" dirty="0">
                          <a:effectLst/>
                          <a:latin typeface="Arial"/>
                          <a:cs typeface="Arial"/>
                        </a:rPr>
                        <a:t>Autonomous price and promotion recommendations integrated with inventory decisions </a:t>
                      </a:r>
                    </a:p>
                  </a:txBody>
                  <a:tcPr marL="42493" marR="42493" marT="21246" marB="212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3872041"/>
                  </a:ext>
                </a:extLst>
              </a:tr>
            </a:tbl>
          </a:graphicData>
        </a:graphic>
      </p:graphicFrame>
    </p:spTree>
    <p:extLst>
      <p:ext uri="{BB962C8B-B14F-4D97-AF65-F5344CB8AC3E}">
        <p14:creationId xmlns:p14="http://schemas.microsoft.com/office/powerpoint/2010/main" val="2584682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9206-6D10-B70B-F069-97F32235A92F}"/>
              </a:ext>
            </a:extLst>
          </p:cNvPr>
          <p:cNvSpPr>
            <a:spLocks noGrp="1"/>
          </p:cNvSpPr>
          <p:nvPr>
            <p:ph type="title"/>
          </p:nvPr>
        </p:nvSpPr>
        <p:spPr/>
        <p:txBody>
          <a:bodyPr/>
          <a:lstStyle/>
          <a:p>
            <a:r>
              <a:rPr lang="en-US" dirty="0"/>
              <a:t>Feature List</a:t>
            </a:r>
          </a:p>
        </p:txBody>
      </p:sp>
      <p:sp>
        <p:nvSpPr>
          <p:cNvPr id="4" name="Slide Number Placeholder 3">
            <a:extLst>
              <a:ext uri="{FF2B5EF4-FFF2-40B4-BE49-F238E27FC236}">
                <a16:creationId xmlns:a16="http://schemas.microsoft.com/office/drawing/2014/main" id="{001602E7-1EFD-3FDB-FFE6-5987138289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graphicFrame>
        <p:nvGraphicFramePr>
          <p:cNvPr id="5" name="Table 4">
            <a:extLst>
              <a:ext uri="{FF2B5EF4-FFF2-40B4-BE49-F238E27FC236}">
                <a16:creationId xmlns:a16="http://schemas.microsoft.com/office/drawing/2014/main" id="{33194919-B0E0-1F35-D212-704A31EB6962}"/>
              </a:ext>
            </a:extLst>
          </p:cNvPr>
          <p:cNvGraphicFramePr>
            <a:graphicFrameLocks noGrp="1"/>
          </p:cNvGraphicFramePr>
          <p:nvPr>
            <p:extLst>
              <p:ext uri="{D42A27DB-BD31-4B8C-83A1-F6EECF244321}">
                <p14:modId xmlns:p14="http://schemas.microsoft.com/office/powerpoint/2010/main" val="4111542381"/>
              </p:ext>
            </p:extLst>
          </p:nvPr>
        </p:nvGraphicFramePr>
        <p:xfrm>
          <a:off x="1643217" y="1430146"/>
          <a:ext cx="5258400" cy="3206354"/>
        </p:xfrm>
        <a:graphic>
          <a:graphicData uri="http://schemas.openxmlformats.org/drawingml/2006/table">
            <a:tbl>
              <a:tblPr>
                <a:solidFill>
                  <a:schemeClr val="bg1"/>
                </a:solidFill>
              </a:tblPr>
              <a:tblGrid>
                <a:gridCol w="1160340">
                  <a:extLst>
                    <a:ext uri="{9D8B030D-6E8A-4147-A177-3AD203B41FA5}">
                      <a16:colId xmlns:a16="http://schemas.microsoft.com/office/drawing/2014/main" val="1074961198"/>
                    </a:ext>
                  </a:extLst>
                </a:gridCol>
                <a:gridCol w="2007593">
                  <a:extLst>
                    <a:ext uri="{9D8B030D-6E8A-4147-A177-3AD203B41FA5}">
                      <a16:colId xmlns:a16="http://schemas.microsoft.com/office/drawing/2014/main" val="676100574"/>
                    </a:ext>
                  </a:extLst>
                </a:gridCol>
                <a:gridCol w="2090467">
                  <a:extLst>
                    <a:ext uri="{9D8B030D-6E8A-4147-A177-3AD203B41FA5}">
                      <a16:colId xmlns:a16="http://schemas.microsoft.com/office/drawing/2014/main" val="1272814226"/>
                    </a:ext>
                  </a:extLst>
                </a:gridCol>
              </a:tblGrid>
              <a:tr h="358862">
                <a:tc>
                  <a:txBody>
                    <a:bodyPr/>
                    <a:lstStyle/>
                    <a:p>
                      <a:pPr algn="l">
                        <a:buNone/>
                      </a:pPr>
                      <a:br>
                        <a:rPr lang="en-US" sz="800" cap="none" spc="0" dirty="0">
                          <a:solidFill>
                            <a:schemeClr val="tx1"/>
                          </a:solidFill>
                          <a:effectLst/>
                        </a:rPr>
                      </a:br>
                      <a:r>
                        <a:rPr lang="en-US" sz="800" cap="none" spc="0" dirty="0">
                          <a:solidFill>
                            <a:schemeClr val="tx1"/>
                          </a:solidFill>
                          <a:effectLst/>
                        </a:rPr>
                        <a:t>Feature</a:t>
                      </a:r>
                    </a:p>
                  </a:txBody>
                  <a:tcPr marL="66017" marR="21195" marT="50782" marB="50782"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n-US" sz="800" cap="none" spc="0" dirty="0">
                          <a:solidFill>
                            <a:schemeClr val="tx1"/>
                          </a:solidFill>
                        </a:rPr>
                        <a:t>What it does</a:t>
                      </a:r>
                    </a:p>
                  </a:txBody>
                  <a:tcPr marL="66017" marR="22608" marT="50782" marB="5078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n-US" sz="800" cap="none" spc="0" dirty="0">
                          <a:solidFill>
                            <a:schemeClr val="tx1"/>
                          </a:solidFill>
                        </a:rPr>
                        <a:t>AI/ML</a:t>
                      </a:r>
                    </a:p>
                  </a:txBody>
                  <a:tcPr marL="66017" marR="22608" marT="50782" marB="50782">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607594760"/>
                  </a:ext>
                </a:extLst>
              </a:tr>
              <a:tr h="477354">
                <a:tc>
                  <a:txBody>
                    <a:bodyPr/>
                    <a:lstStyle/>
                    <a:p>
                      <a:pPr algn="l">
                        <a:buNone/>
                      </a:pPr>
                      <a:r>
                        <a:rPr lang="en-US" sz="800" b="1" cap="none" spc="0">
                          <a:solidFill>
                            <a:schemeClr val="tx1"/>
                          </a:solidFill>
                          <a:effectLst/>
                        </a:rPr>
                        <a:t>Demand Forecasting</a:t>
                      </a:r>
                      <a:endParaRPr lang="en-US" sz="800" cap="none" spc="0">
                        <a:solidFill>
                          <a:schemeClr val="tx1"/>
                        </a:solidFill>
                        <a:effectLst/>
                      </a:endParaRPr>
                    </a:p>
                  </a:txBody>
                  <a:tcPr marL="66017" marR="21195" marT="50782" marB="5078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cap="none" spc="0" dirty="0">
                          <a:solidFill>
                            <a:schemeClr val="tx1"/>
                          </a:solidFill>
                          <a:effectLst/>
                        </a:rPr>
                        <a:t>Predicts short-term item demand</a:t>
                      </a:r>
                    </a:p>
                  </a:txBody>
                  <a:tcPr marL="66017" marR="21195" marT="50782" marB="507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cap="none" spc="0">
                          <a:solidFill>
                            <a:schemeClr val="tx1"/>
                          </a:solidFill>
                          <a:effectLst/>
                        </a:rPr>
                        <a:t>ML: Moving average (SMA), Exponential smoothing (EMA), </a:t>
                      </a:r>
                      <a:r>
                        <a:rPr lang="en-US" sz="800" b="1" cap="none" spc="0">
                          <a:solidFill>
                            <a:schemeClr val="tx1"/>
                          </a:solidFill>
                          <a:effectLst/>
                        </a:rPr>
                        <a:t>ETS (Holt–Winters; </a:t>
                      </a:r>
                      <a:r>
                        <a:rPr lang="el-GR" sz="800" b="1" cap="none" spc="0">
                          <a:solidFill>
                            <a:schemeClr val="tx1"/>
                          </a:solidFill>
                          <a:effectLst/>
                        </a:rPr>
                        <a:t>α, β, γ)</a:t>
                      </a:r>
                      <a:endParaRPr lang="el-GR" sz="800" cap="none" spc="0">
                        <a:solidFill>
                          <a:schemeClr val="tx1"/>
                        </a:solidFill>
                        <a:effectLst/>
                      </a:endParaRPr>
                    </a:p>
                  </a:txBody>
                  <a:tcPr marL="66017" marR="21195" marT="50782" marB="5078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785951887"/>
                  </a:ext>
                </a:extLst>
              </a:tr>
              <a:tr h="358862">
                <a:tc>
                  <a:txBody>
                    <a:bodyPr/>
                    <a:lstStyle/>
                    <a:p>
                      <a:pPr algn="l">
                        <a:buNone/>
                      </a:pPr>
                      <a:r>
                        <a:rPr lang="en-US" sz="800" b="1" cap="none" spc="0">
                          <a:solidFill>
                            <a:schemeClr val="tx1"/>
                          </a:solidFill>
                          <a:effectLst/>
                        </a:rPr>
                        <a:t>Inventory Monitoring</a:t>
                      </a:r>
                      <a:endParaRPr lang="en-US" sz="800" cap="none" spc="0">
                        <a:solidFill>
                          <a:schemeClr val="tx1"/>
                        </a:solidFill>
                        <a:effectLst/>
                      </a:endParaRPr>
                    </a:p>
                  </a:txBody>
                  <a:tcPr marL="66017" marR="21195" marT="50782" marB="5078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cap="none" spc="0">
                          <a:solidFill>
                            <a:schemeClr val="tx1"/>
                          </a:solidFill>
                          <a:effectLst/>
                        </a:rPr>
                        <a:t>Tracks stock and consumption, flags items needing attention</a:t>
                      </a:r>
                    </a:p>
                  </a:txBody>
                  <a:tcPr marL="66017" marR="21195" marT="50782" marB="507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b="1" cap="none" spc="0">
                          <a:solidFill>
                            <a:schemeClr val="tx1"/>
                          </a:solidFill>
                          <a:effectLst/>
                        </a:rPr>
                        <a:t>Inventory Agent (rules + ETS/forecasting)</a:t>
                      </a:r>
                      <a:r>
                        <a:rPr lang="en-US" sz="800" cap="none" spc="0">
                          <a:solidFill>
                            <a:schemeClr val="tx1"/>
                          </a:solidFill>
                          <a:effectLst/>
                        </a:rPr>
                        <a:t>; LLM in </a:t>
                      </a:r>
                      <a:r>
                        <a:rPr lang="en-US" sz="800" b="1" cap="none" spc="0">
                          <a:solidFill>
                            <a:schemeClr val="tx1"/>
                          </a:solidFill>
                          <a:effectLst/>
                        </a:rPr>
                        <a:t>Chat</a:t>
                      </a:r>
                      <a:r>
                        <a:rPr lang="en-US" sz="800" cap="none" spc="0">
                          <a:solidFill>
                            <a:schemeClr val="tx1"/>
                          </a:solidFill>
                          <a:effectLst/>
                        </a:rPr>
                        <a:t> for Q&amp;A only</a:t>
                      </a:r>
                    </a:p>
                  </a:txBody>
                  <a:tcPr marL="66017" marR="21195" marT="50782" marB="5078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565281027"/>
                  </a:ext>
                </a:extLst>
              </a:tr>
              <a:tr h="595846">
                <a:tc>
                  <a:txBody>
                    <a:bodyPr/>
                    <a:lstStyle/>
                    <a:p>
                      <a:pPr algn="l">
                        <a:buNone/>
                      </a:pPr>
                      <a:r>
                        <a:rPr lang="en-US" sz="800" b="1" cap="none" spc="0">
                          <a:solidFill>
                            <a:schemeClr val="tx1"/>
                          </a:solidFill>
                          <a:effectLst/>
                        </a:rPr>
                        <a:t>Decision Making</a:t>
                      </a:r>
                      <a:endParaRPr lang="en-US" sz="800" cap="none" spc="0">
                        <a:solidFill>
                          <a:schemeClr val="tx1"/>
                        </a:solidFill>
                        <a:effectLst/>
                      </a:endParaRPr>
                    </a:p>
                  </a:txBody>
                  <a:tcPr marL="66017" marR="21195" marT="50782" marB="5078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cap="none" spc="0">
                          <a:solidFill>
                            <a:schemeClr val="tx1"/>
                          </a:solidFill>
                          <a:effectLst/>
                        </a:rPr>
                        <a:t>Decides what actions to take (reorder, hold, discount, bundle)</a:t>
                      </a:r>
                    </a:p>
                  </a:txBody>
                  <a:tcPr marL="66017" marR="21195" marT="50782" marB="507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cap="none" spc="0">
                          <a:solidFill>
                            <a:schemeClr val="tx1"/>
                          </a:solidFill>
                          <a:effectLst/>
                        </a:rPr>
                        <a:t>Decision Orchestrator + sub-agents (Risk, Feasibility, Cost, Explanation); </a:t>
                      </a:r>
                      <a:r>
                        <a:rPr lang="en-US" sz="800" b="1" cap="none" spc="0">
                          <a:solidFill>
                            <a:schemeClr val="tx1"/>
                          </a:solidFill>
                          <a:effectLst/>
                        </a:rPr>
                        <a:t>Mistral LLM</a:t>
                      </a:r>
                      <a:r>
                        <a:rPr lang="en-US" sz="800" cap="none" spc="0">
                          <a:solidFill>
                            <a:schemeClr val="tx1"/>
                          </a:solidFill>
                          <a:effectLst/>
                        </a:rPr>
                        <a:t> in Orchestrator (synthesis) and Explanation sub-agent</a:t>
                      </a:r>
                    </a:p>
                  </a:txBody>
                  <a:tcPr marL="66017" marR="21195" marT="50782" marB="5078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961470745"/>
                  </a:ext>
                </a:extLst>
              </a:tr>
              <a:tr h="477354">
                <a:tc>
                  <a:txBody>
                    <a:bodyPr/>
                    <a:lstStyle/>
                    <a:p>
                      <a:pPr algn="l">
                        <a:buNone/>
                      </a:pPr>
                      <a:r>
                        <a:rPr lang="en-US" sz="800" b="1" cap="none" spc="0">
                          <a:solidFill>
                            <a:schemeClr val="tx1"/>
                          </a:solidFill>
                          <a:effectLst/>
                        </a:rPr>
                        <a:t>Pricing &amp; Promotions</a:t>
                      </a:r>
                      <a:endParaRPr lang="en-US" sz="800" cap="none" spc="0">
                        <a:solidFill>
                          <a:schemeClr val="tx1"/>
                        </a:solidFill>
                        <a:effectLst/>
                      </a:endParaRPr>
                    </a:p>
                  </a:txBody>
                  <a:tcPr marL="66017" marR="21195" marT="50782" marB="5078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cap="none" spc="0">
                          <a:solidFill>
                            <a:schemeClr val="tx1"/>
                          </a:solidFill>
                          <a:effectLst/>
                        </a:rPr>
                        <a:t>Suggests reorder cost; suggests discount %, sell-at price, bundle</a:t>
                      </a:r>
                    </a:p>
                  </a:txBody>
                  <a:tcPr marL="66017" marR="21195" marT="50782" marB="507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b="1" cap="none" spc="0">
                          <a:solidFill>
                            <a:schemeClr val="tx1"/>
                          </a:solidFill>
                          <a:effectLst/>
                        </a:rPr>
                        <a:t>Cost Impact</a:t>
                      </a:r>
                      <a:r>
                        <a:rPr lang="en-US" sz="800" cap="none" spc="0">
                          <a:solidFill>
                            <a:schemeClr val="tx1"/>
                          </a:solidFill>
                          <a:effectLst/>
                        </a:rPr>
                        <a:t> sub-agent: reorder cost/budget; </a:t>
                      </a:r>
                      <a:r>
                        <a:rPr lang="en-US" sz="800" b="1" cap="none" spc="0">
                          <a:solidFill>
                            <a:schemeClr val="tx1"/>
                          </a:solidFill>
                          <a:effectLst/>
                        </a:rPr>
                        <a:t>Orchestrator (LLM)</a:t>
                      </a:r>
                      <a:r>
                        <a:rPr lang="en-US" sz="800" cap="none" spc="0">
                          <a:solidFill>
                            <a:schemeClr val="tx1"/>
                          </a:solidFill>
                          <a:effectLst/>
                        </a:rPr>
                        <a:t>: discount %, price, bundle (e.g. waste/expiry)</a:t>
                      </a:r>
                    </a:p>
                  </a:txBody>
                  <a:tcPr marL="66017" marR="21195" marT="50782" marB="5078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27002155"/>
                  </a:ext>
                </a:extLst>
              </a:tr>
              <a:tr h="477354">
                <a:tc>
                  <a:txBody>
                    <a:bodyPr/>
                    <a:lstStyle/>
                    <a:p>
                      <a:pPr algn="l">
                        <a:buNone/>
                      </a:pPr>
                      <a:r>
                        <a:rPr lang="en-US" sz="800" b="1" cap="none" spc="0">
                          <a:solidFill>
                            <a:schemeClr val="tx1"/>
                          </a:solidFill>
                          <a:effectLst/>
                        </a:rPr>
                        <a:t>Explainability</a:t>
                      </a:r>
                      <a:endParaRPr lang="en-US" sz="800" cap="none" spc="0">
                        <a:solidFill>
                          <a:schemeClr val="tx1"/>
                        </a:solidFill>
                        <a:effectLst/>
                      </a:endParaRPr>
                    </a:p>
                  </a:txBody>
                  <a:tcPr marL="66017" marR="21195" marT="50782" marB="5078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cap="none" spc="0">
                          <a:solidFill>
                            <a:schemeClr val="tx1"/>
                          </a:solidFill>
                          <a:effectLst/>
                        </a:rPr>
                        <a:t>Shows why decisions were made</a:t>
                      </a:r>
                    </a:p>
                  </a:txBody>
                  <a:tcPr marL="66017" marR="21195" marT="50782" marB="507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800" b="1" cap="none" spc="0">
                          <a:solidFill>
                            <a:schemeClr val="tx1"/>
                          </a:solidFill>
                          <a:effectLst/>
                        </a:rPr>
                        <a:t>RAG (PostgreSQL + embeddings)</a:t>
                      </a:r>
                      <a:r>
                        <a:rPr lang="en-US" sz="800" cap="none" spc="0">
                          <a:solidFill>
                            <a:schemeClr val="tx1"/>
                          </a:solidFill>
                          <a:effectLst/>
                        </a:rPr>
                        <a:t> for evidence; </a:t>
                      </a:r>
                      <a:r>
                        <a:rPr lang="en-US" sz="800" b="1" cap="none" spc="0">
                          <a:solidFill>
                            <a:schemeClr val="tx1"/>
                          </a:solidFill>
                          <a:effectLst/>
                        </a:rPr>
                        <a:t>Explanation</a:t>
                      </a:r>
                      <a:r>
                        <a:rPr lang="en-US" sz="800" cap="none" spc="0">
                          <a:solidFill>
                            <a:schemeClr val="tx1"/>
                          </a:solidFill>
                          <a:effectLst/>
                        </a:rPr>
                        <a:t> sub-agent (Mistral) for narrative</a:t>
                      </a:r>
                    </a:p>
                  </a:txBody>
                  <a:tcPr marL="66017" marR="21195" marT="50782" marB="5078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748149371"/>
                  </a:ext>
                </a:extLst>
              </a:tr>
              <a:tr h="240370">
                <a:tc>
                  <a:txBody>
                    <a:bodyPr/>
                    <a:lstStyle/>
                    <a:p>
                      <a:pPr algn="l">
                        <a:buNone/>
                      </a:pPr>
                      <a:r>
                        <a:rPr lang="en-US" sz="800" b="1" cap="none" spc="0">
                          <a:solidFill>
                            <a:schemeClr val="tx1"/>
                          </a:solidFill>
                          <a:effectLst/>
                        </a:rPr>
                        <a:t>System Modularity</a:t>
                      </a:r>
                      <a:endParaRPr lang="en-US" sz="800" cap="none" spc="0">
                        <a:solidFill>
                          <a:schemeClr val="tx1"/>
                        </a:solidFill>
                        <a:effectLst/>
                      </a:endParaRPr>
                    </a:p>
                  </a:txBody>
                  <a:tcPr marL="66017" marR="21195" marT="50782" marB="5078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lgn="l">
                        <a:buNone/>
                      </a:pPr>
                      <a:r>
                        <a:rPr lang="en-US" sz="800" cap="none" spc="0">
                          <a:solidFill>
                            <a:schemeClr val="tx1"/>
                          </a:solidFill>
                          <a:effectLst/>
                        </a:rPr>
                        <a:t>Easy to swap models or agents</a:t>
                      </a:r>
                    </a:p>
                  </a:txBody>
                  <a:tcPr marL="66017" marR="21195" marT="50782" marB="507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lgn="l">
                        <a:buNone/>
                      </a:pPr>
                      <a:r>
                        <a:rPr lang="en-US" sz="800" b="1" cap="none" spc="0" dirty="0">
                          <a:solidFill>
                            <a:schemeClr val="tx1"/>
                          </a:solidFill>
                          <a:effectLst/>
                        </a:rPr>
                        <a:t>Fast MCP</a:t>
                      </a:r>
                      <a:r>
                        <a:rPr lang="en-US" sz="800" cap="none" spc="0" dirty="0">
                          <a:solidFill>
                            <a:schemeClr val="tx1"/>
                          </a:solidFill>
                          <a:effectLst/>
                        </a:rPr>
                        <a:t> for plug-and-play agents</a:t>
                      </a:r>
                    </a:p>
                  </a:txBody>
                  <a:tcPr marL="66017" marR="21195" marT="50782" marB="5078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2111323324"/>
                  </a:ext>
                </a:extLst>
              </a:tr>
            </a:tbl>
          </a:graphicData>
        </a:graphic>
      </p:graphicFrame>
    </p:spTree>
    <p:extLst>
      <p:ext uri="{BB962C8B-B14F-4D97-AF65-F5344CB8AC3E}">
        <p14:creationId xmlns:p14="http://schemas.microsoft.com/office/powerpoint/2010/main" val="285243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4CA39-6DEE-5259-71FC-50E38B711413}"/>
              </a:ext>
            </a:extLst>
          </p:cNvPr>
          <p:cNvSpPr>
            <a:spLocks noGrp="1"/>
          </p:cNvSpPr>
          <p:nvPr>
            <p:ph type="title"/>
          </p:nvPr>
        </p:nvSpPr>
        <p:spPr/>
        <p:txBody>
          <a:bodyPr/>
          <a:lstStyle/>
          <a:p>
            <a:r>
              <a:rPr lang="en-US" dirty="0"/>
              <a:t>Future Work</a:t>
            </a:r>
          </a:p>
        </p:txBody>
      </p:sp>
      <p:sp>
        <p:nvSpPr>
          <p:cNvPr id="4" name="Slide Number Placeholder 3">
            <a:extLst>
              <a:ext uri="{FF2B5EF4-FFF2-40B4-BE49-F238E27FC236}">
                <a16:creationId xmlns:a16="http://schemas.microsoft.com/office/drawing/2014/main" id="{D1D1E268-1287-FF6F-30CE-BD9D7B21E8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5" name="Rectangle 1">
            <a:extLst>
              <a:ext uri="{FF2B5EF4-FFF2-40B4-BE49-F238E27FC236}">
                <a16:creationId xmlns:a16="http://schemas.microsoft.com/office/drawing/2014/main" id="{A2259418-AD34-CF2C-6673-6D7C1D4BA77E}"/>
              </a:ext>
            </a:extLst>
          </p:cNvPr>
          <p:cNvSpPr>
            <a:spLocks noGrp="1" noChangeArrowheads="1"/>
          </p:cNvSpPr>
          <p:nvPr>
            <p:ph type="body" idx="1"/>
          </p:nvPr>
        </p:nvSpPr>
        <p:spPr bwMode="auto">
          <a:xfrm>
            <a:off x="814275" y="1345828"/>
            <a:ext cx="765305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
                <a:schemeClr val="accent1"/>
              </a:buClr>
              <a:buSzPct val="98000"/>
              <a:buFont typeface="Wingdings" pitchFamily="2" charset="2"/>
              <a:buChar char="q"/>
              <a:tabLst/>
            </a:pPr>
            <a:r>
              <a:rPr kumimoji="0" lang="en-US" altLang="en-US" sz="1400" b="1" i="0" u="none" strike="noStrike" cap="none" normalizeH="0" baseline="0" dirty="0">
                <a:ln>
                  <a:noFill/>
                </a:ln>
                <a:solidFill>
                  <a:schemeClr val="tx1"/>
                </a:solidFill>
                <a:effectLst/>
                <a:latin typeface="Arial" panose="020B0604020202020204" pitchFamily="34" charset="0"/>
              </a:rPr>
              <a:t>Multi-Agent Reinforcement Learning (MARL)</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Enable self-learning agents to jointly optimize pricing and inventory decisions</a:t>
            </a:r>
          </a:p>
          <a:p>
            <a:pPr marL="285750" marR="0" lvl="0" indent="-285750" algn="l" defTabSz="914400" rtl="0" eaLnBrk="0" fontAlgn="base" latinLnBrk="0" hangingPunct="0">
              <a:lnSpc>
                <a:spcPct val="100000"/>
              </a:lnSpc>
              <a:spcBef>
                <a:spcPct val="0"/>
              </a:spcBef>
              <a:spcAft>
                <a:spcPct val="0"/>
              </a:spcAft>
              <a:buClr>
                <a:schemeClr val="accent1"/>
              </a:buClr>
              <a:buSzPct val="98000"/>
              <a:buFont typeface="Wingdings" pitchFamily="2" charset="2"/>
              <a:buChar char="q"/>
              <a:tabLst/>
            </a:pPr>
            <a:r>
              <a:rPr kumimoji="0" lang="en-US" altLang="en-US" sz="1400" b="1" i="0" u="none" strike="noStrike" cap="none" normalizeH="0" baseline="0" dirty="0">
                <a:ln>
                  <a:noFill/>
                </a:ln>
                <a:solidFill>
                  <a:schemeClr val="tx1"/>
                </a:solidFill>
                <a:effectLst/>
                <a:latin typeface="Arial" panose="020B0604020202020204" pitchFamily="34" charset="0"/>
              </a:rPr>
              <a:t>Advanced Intervention Strategies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Add agents for automated liquidation, redistribution, and exception handling</a:t>
            </a:r>
          </a:p>
          <a:p>
            <a:pPr marL="285750" marR="0" lvl="0" indent="-285750" algn="l" defTabSz="914400" rtl="0" eaLnBrk="0" fontAlgn="base" latinLnBrk="0" hangingPunct="0">
              <a:lnSpc>
                <a:spcPct val="100000"/>
              </a:lnSpc>
              <a:spcBef>
                <a:spcPct val="0"/>
              </a:spcBef>
              <a:spcAft>
                <a:spcPct val="0"/>
              </a:spcAft>
              <a:buClr>
                <a:schemeClr val="accent1"/>
              </a:buClr>
              <a:buSzPct val="98000"/>
              <a:buFont typeface="Wingdings" pitchFamily="2" charset="2"/>
              <a:buChar char="q"/>
              <a:tabLst/>
            </a:pPr>
            <a:r>
              <a:rPr kumimoji="0" lang="en-US" altLang="en-US" sz="1400" b="1" i="0" u="none" strike="noStrike" cap="none" normalizeH="0" baseline="0" dirty="0">
                <a:ln>
                  <a:noFill/>
                </a:ln>
                <a:solidFill>
                  <a:schemeClr val="tx1"/>
                </a:solidFill>
                <a:effectLst/>
                <a:latin typeface="Arial" panose="020B0604020202020204" pitchFamily="34" charset="0"/>
              </a:rPr>
              <a:t>Cross-Facility Optimization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Enable intelligent inventory transfer and balancing across multiple stores or warehouses</a:t>
            </a:r>
          </a:p>
          <a:p>
            <a:pPr marL="285750" marR="0" lvl="0" indent="-285750" algn="l" defTabSz="914400" rtl="0" eaLnBrk="0" fontAlgn="base" latinLnBrk="0" hangingPunct="0">
              <a:lnSpc>
                <a:spcPct val="100000"/>
              </a:lnSpc>
              <a:spcBef>
                <a:spcPct val="0"/>
              </a:spcBef>
              <a:spcAft>
                <a:spcPct val="0"/>
              </a:spcAft>
              <a:buClr>
                <a:schemeClr val="accent1"/>
              </a:buClr>
              <a:buSzPct val="98000"/>
              <a:buFont typeface="Wingdings" pitchFamily="2" charset="2"/>
              <a:buChar char="q"/>
              <a:tabLst/>
            </a:pPr>
            <a:r>
              <a:rPr kumimoji="0" lang="en-US" altLang="en-US" sz="1400" b="1" i="0" u="none" strike="noStrike" cap="none" normalizeH="0" baseline="0" dirty="0">
                <a:ln>
                  <a:noFill/>
                </a:ln>
                <a:solidFill>
                  <a:schemeClr val="tx1"/>
                </a:solidFill>
                <a:effectLst/>
                <a:latin typeface="Arial" panose="020B0604020202020204" pitchFamily="34" charset="0"/>
              </a:rPr>
              <a:t>Enhanced External Signal Integration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Incorporate weather, social media, and competitor pricing for improved prediction accuracy</a:t>
            </a:r>
          </a:p>
          <a:p>
            <a:pPr marL="285750" marR="0" lvl="0" indent="-285750" algn="l" defTabSz="914400" rtl="0" eaLnBrk="0" fontAlgn="base" latinLnBrk="0" hangingPunct="0">
              <a:lnSpc>
                <a:spcPct val="100000"/>
              </a:lnSpc>
              <a:spcBef>
                <a:spcPct val="0"/>
              </a:spcBef>
              <a:spcAft>
                <a:spcPct val="0"/>
              </a:spcAft>
              <a:buClr>
                <a:schemeClr val="accent1"/>
              </a:buClr>
              <a:buSzPct val="98000"/>
              <a:buFont typeface="Wingdings" pitchFamily="2" charset="2"/>
              <a:buChar char="q"/>
              <a:tabLst/>
            </a:pPr>
            <a:r>
              <a:rPr kumimoji="0" lang="en-US" altLang="en-US" sz="1400" b="1" i="0" u="none" strike="noStrike" cap="none" normalizeH="0" baseline="0" dirty="0">
                <a:ln>
                  <a:noFill/>
                </a:ln>
                <a:solidFill>
                  <a:schemeClr val="tx1"/>
                </a:solidFill>
                <a:effectLst/>
                <a:latin typeface="Arial" panose="020B0604020202020204" pitchFamily="34" charset="0"/>
              </a:rPr>
              <a:t>Improved Explainability and Trust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Provide transparent, natural language explanations for AI-driven decisions</a:t>
            </a:r>
          </a:p>
          <a:p>
            <a:pPr marL="285750" marR="0" lvl="0" indent="-285750" algn="l" defTabSz="914400" rtl="0" eaLnBrk="0" fontAlgn="base" latinLnBrk="0" hangingPunct="0">
              <a:lnSpc>
                <a:spcPct val="100000"/>
              </a:lnSpc>
              <a:spcBef>
                <a:spcPct val="0"/>
              </a:spcBef>
              <a:spcAft>
                <a:spcPct val="0"/>
              </a:spcAft>
              <a:buClr>
                <a:schemeClr val="accent1"/>
              </a:buClr>
              <a:buSzPct val="98000"/>
              <a:buFont typeface="Wingdings" pitchFamily="2" charset="2"/>
              <a:buChar char="q"/>
              <a:tabLst/>
            </a:pPr>
            <a:r>
              <a:rPr kumimoji="0" lang="en-US" altLang="en-US" sz="1400" b="1" i="0" u="none" strike="noStrike" cap="none" normalizeH="0" baseline="0" dirty="0">
                <a:ln>
                  <a:noFill/>
                </a:ln>
                <a:solidFill>
                  <a:schemeClr val="tx1"/>
                </a:solidFill>
                <a:effectLst/>
                <a:latin typeface="Arial" panose="020B0604020202020204" pitchFamily="34" charset="0"/>
              </a:rPr>
              <a:t>Edge and IoT Integration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Use IoT sensors for real-time shelf-life, storage, and waste-risk monitoring</a:t>
            </a:r>
          </a:p>
          <a:p>
            <a:pPr marL="285750" marR="0" lvl="0" indent="-285750" algn="l" defTabSz="914400" rtl="0" eaLnBrk="0" fontAlgn="base" latinLnBrk="0" hangingPunct="0">
              <a:lnSpc>
                <a:spcPct val="100000"/>
              </a:lnSpc>
              <a:spcBef>
                <a:spcPct val="0"/>
              </a:spcBef>
              <a:spcAft>
                <a:spcPct val="0"/>
              </a:spcAft>
              <a:buClr>
                <a:schemeClr val="accent1"/>
              </a:buClr>
              <a:buSzPct val="98000"/>
              <a:buFont typeface="Wingdings" pitchFamily="2" charset="2"/>
              <a:buChar char="q"/>
              <a:tabLst/>
            </a:pPr>
            <a:r>
              <a:rPr kumimoji="0" lang="en-US" altLang="en-US" sz="1400" b="1" i="0" u="none" strike="noStrike" cap="none" normalizeH="0" baseline="0" dirty="0">
                <a:ln>
                  <a:noFill/>
                </a:ln>
                <a:solidFill>
                  <a:schemeClr val="tx1"/>
                </a:solidFill>
                <a:effectLst/>
                <a:latin typeface="Arial" panose="020B0604020202020204" pitchFamily="34" charset="0"/>
              </a:rPr>
              <a:t>Cross-Industry Expansion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Adapt system to healthcare, pharmaceuticals, and other perishable inventory sectors</a:t>
            </a:r>
          </a:p>
        </p:txBody>
      </p:sp>
    </p:spTree>
    <p:extLst>
      <p:ext uri="{BB962C8B-B14F-4D97-AF65-F5344CB8AC3E}">
        <p14:creationId xmlns:p14="http://schemas.microsoft.com/office/powerpoint/2010/main" val="2266987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A6EE6-7D0D-90F7-FBF9-6967757E2216}"/>
              </a:ext>
            </a:extLst>
          </p:cNvPr>
          <p:cNvSpPr>
            <a:spLocks noGrp="1"/>
          </p:cNvSpPr>
          <p:nvPr>
            <p:ph type="title"/>
          </p:nvPr>
        </p:nvSpPr>
        <p:spPr/>
        <p:txBody>
          <a:bodyPr/>
          <a:lstStyle/>
          <a:p>
            <a:r>
              <a:rPr lang="en-US" dirty="0"/>
              <a:t>Approach</a:t>
            </a:r>
          </a:p>
        </p:txBody>
      </p:sp>
      <p:sp>
        <p:nvSpPr>
          <p:cNvPr id="4" name="Slide Number Placeholder 3">
            <a:extLst>
              <a:ext uri="{FF2B5EF4-FFF2-40B4-BE49-F238E27FC236}">
                <a16:creationId xmlns:a16="http://schemas.microsoft.com/office/drawing/2014/main" id="{D0A552B0-A5FD-5A93-B97A-046D68C5A1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5" name="Rectangle 1">
            <a:extLst>
              <a:ext uri="{FF2B5EF4-FFF2-40B4-BE49-F238E27FC236}">
                <a16:creationId xmlns:a16="http://schemas.microsoft.com/office/drawing/2014/main" id="{6F41D2E4-7295-D898-554E-A631A94BE87F}"/>
              </a:ext>
            </a:extLst>
          </p:cNvPr>
          <p:cNvSpPr>
            <a:spLocks noGrp="1" noChangeArrowheads="1"/>
          </p:cNvSpPr>
          <p:nvPr>
            <p:ph type="body" idx="1"/>
          </p:nvPr>
        </p:nvSpPr>
        <p:spPr bwMode="auto">
          <a:xfrm>
            <a:off x="310073" y="1357843"/>
            <a:ext cx="410810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200" b="1" i="0" u="none" strike="noStrike" cap="none" normalizeH="0" baseline="0" dirty="0">
                <a:ln>
                  <a:noFill/>
                </a:ln>
                <a:solidFill>
                  <a:schemeClr val="tx1"/>
                </a:solidFill>
                <a:effectLst/>
                <a:latin typeface="Arial" panose="020B0604020202020204" pitchFamily="34" charset="0"/>
              </a:rPr>
              <a:t>Agent-based system</a:t>
            </a:r>
            <a:r>
              <a:rPr kumimoji="0" lang="en-US" altLang="en-US" sz="1200" b="0" i="0" u="none" strike="noStrike" cap="none" normalizeH="0" baseline="0" dirty="0">
                <a:ln>
                  <a:noFill/>
                </a:ln>
                <a:solidFill>
                  <a:schemeClr val="tx1"/>
                </a:solidFill>
                <a:effectLst/>
                <a:latin typeface="Arial" panose="020B0604020202020204" pitchFamily="34" charset="0"/>
              </a:rPr>
              <a:t> transforming inventory management from predictive analytics to </a:t>
            </a:r>
            <a:r>
              <a:rPr kumimoji="0" lang="en-US" altLang="en-US" sz="1200" b="1" i="0" u="none" strike="noStrike" cap="none" normalizeH="0" baseline="0" dirty="0">
                <a:ln>
                  <a:noFill/>
                </a:ln>
                <a:solidFill>
                  <a:schemeClr val="tx1"/>
                </a:solidFill>
                <a:effectLst/>
                <a:latin typeface="Arial" panose="020B0604020202020204" pitchFamily="34" charset="0"/>
              </a:rPr>
              <a:t>prescriptive, automated decision-making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200" b="1" dirty="0">
                <a:solidFill>
                  <a:schemeClr val="tx1"/>
                </a:solidFill>
                <a:latin typeface="Arial" panose="020B0604020202020204" pitchFamily="34" charset="0"/>
              </a:rPr>
              <a:t>I</a:t>
            </a:r>
            <a:r>
              <a:rPr kumimoji="0" lang="en-US" altLang="en-US" sz="1200" b="1" i="0" u="none" strike="noStrike" cap="none" normalizeH="0" baseline="0" dirty="0">
                <a:ln>
                  <a:noFill/>
                </a:ln>
                <a:solidFill>
                  <a:schemeClr val="tx1"/>
                </a:solidFill>
                <a:effectLst/>
                <a:latin typeface="Arial" panose="020B0604020202020204" pitchFamily="34" charset="0"/>
              </a:rPr>
              <a:t>nventory Monitoring Agent</a:t>
            </a:r>
            <a:r>
              <a:rPr kumimoji="0" lang="en-US" altLang="en-US" sz="1200" b="0" i="0" u="none" strike="noStrike" cap="none" normalizeH="0" baseline="0" dirty="0">
                <a:ln>
                  <a:noFill/>
                </a:ln>
                <a:solidFill>
                  <a:schemeClr val="tx1"/>
                </a:solidFill>
                <a:effectLst/>
                <a:latin typeface="Arial" panose="020B0604020202020204" pitchFamily="34" charset="0"/>
              </a:rPr>
              <a:t> continuously detects risks (spoilage, low sell-through, excess stock)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200" b="1" i="0" u="none" strike="noStrike" cap="none" normalizeH="0" baseline="0" dirty="0">
                <a:ln>
                  <a:noFill/>
                </a:ln>
                <a:solidFill>
                  <a:schemeClr val="tx1"/>
                </a:solidFill>
                <a:effectLst/>
                <a:latin typeface="Arial" panose="020B0604020202020204" pitchFamily="34" charset="0"/>
              </a:rPr>
              <a:t>Intervention Orchestration Agent</a:t>
            </a:r>
            <a:r>
              <a:rPr kumimoji="0" lang="en-US" altLang="en-US" sz="1200" b="0" i="0" u="none" strike="noStrike" cap="none" normalizeH="0" baseline="0" dirty="0">
                <a:ln>
                  <a:noFill/>
                </a:ln>
                <a:solidFill>
                  <a:schemeClr val="tx1"/>
                </a:solidFill>
                <a:effectLst/>
                <a:latin typeface="Arial" panose="020B0604020202020204" pitchFamily="34" charset="0"/>
              </a:rPr>
              <a:t> analyzes risk signals and activates specialized decision agents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200" b="1" i="0" u="none" strike="noStrike" cap="none" normalizeH="0" baseline="0" dirty="0">
                <a:ln>
                  <a:noFill/>
                </a:ln>
                <a:solidFill>
                  <a:schemeClr val="tx1"/>
                </a:solidFill>
                <a:effectLst/>
                <a:latin typeface="Arial" panose="020B0604020202020204" pitchFamily="34" charset="0"/>
              </a:rPr>
              <a:t>Decision Sub-Agents</a:t>
            </a:r>
            <a:r>
              <a:rPr kumimoji="0" lang="en-US" altLang="en-US" sz="1200" b="0" i="0" u="none" strike="noStrike" cap="none" normalizeH="0" baseline="0" dirty="0">
                <a:ln>
                  <a:noFill/>
                </a:ln>
                <a:solidFill>
                  <a:schemeClr val="tx1"/>
                </a:solidFill>
                <a:effectLst/>
                <a:latin typeface="Arial" panose="020B0604020202020204" pitchFamily="34" charset="0"/>
              </a:rPr>
              <a:t> handle pricing optimization, promotions, redistribution, and waste reduction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200" b="0" i="0" u="none" strike="noStrike" cap="none" normalizeH="0" baseline="0" dirty="0">
                <a:ln>
                  <a:noFill/>
                </a:ln>
                <a:solidFill>
                  <a:schemeClr val="tx1"/>
                </a:solidFill>
                <a:effectLst/>
                <a:latin typeface="Arial" panose="020B0604020202020204" pitchFamily="34" charset="0"/>
              </a:rPr>
              <a:t>Modular, event-driven architecture integrates with existing inventory systems in </a:t>
            </a:r>
            <a:r>
              <a:rPr kumimoji="0" lang="en-US" altLang="en-US" sz="1200" b="1" i="0" u="none" strike="noStrike" cap="none" normalizeH="0" baseline="0" dirty="0">
                <a:ln>
                  <a:noFill/>
                </a:ln>
                <a:solidFill>
                  <a:schemeClr val="tx1"/>
                </a:solidFill>
                <a:effectLst/>
                <a:latin typeface="Arial" panose="020B0604020202020204" pitchFamily="34" charset="0"/>
              </a:rPr>
              <a:t>real time</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789808A-2370-E464-369A-70A2F49BC4F7}"/>
              </a:ext>
            </a:extLst>
          </p:cNvPr>
          <p:cNvSpPr txBox="1"/>
          <p:nvPr/>
        </p:nvSpPr>
        <p:spPr>
          <a:xfrm>
            <a:off x="4418176" y="1325255"/>
            <a:ext cx="4576272" cy="2862322"/>
          </a:xfrm>
          <a:prstGeom prst="rect">
            <a:avLst/>
          </a:prstGeom>
          <a:noFill/>
        </p:spPr>
        <p:txBody>
          <a:bodyPr wrap="square">
            <a:spAutoFit/>
          </a:bodyPr>
          <a:lstStyle/>
          <a:p>
            <a:pPr>
              <a:buNone/>
            </a:pPr>
            <a:r>
              <a:rPr lang="en-US" sz="1200" b="1" dirty="0"/>
              <a:t>Quantitative Component</a:t>
            </a:r>
            <a:endParaRPr lang="en-US" sz="1200" dirty="0"/>
          </a:p>
          <a:p>
            <a:pPr marL="171450" indent="-171450">
              <a:buClr>
                <a:schemeClr val="accent1"/>
              </a:buClr>
              <a:buFont typeface="System Font Regular"/>
              <a:buChar char="▹"/>
            </a:pPr>
            <a:r>
              <a:rPr lang="en-US" sz="1200" dirty="0"/>
              <a:t>Uses structured data: inventory levels, shelf-life, sales, sell-through</a:t>
            </a:r>
          </a:p>
          <a:p>
            <a:pPr marL="171450" indent="-171450">
              <a:buClr>
                <a:schemeClr val="accent1"/>
              </a:buClr>
              <a:buFont typeface="System Font Regular"/>
              <a:buChar char="▹"/>
            </a:pPr>
            <a:r>
              <a:rPr lang="en-US" sz="1200" dirty="0"/>
              <a:t>Applies statistical forecasting (</a:t>
            </a:r>
            <a:r>
              <a:rPr lang="en-US" sz="1200" b="1" dirty="0"/>
              <a:t>Exponential Smoothing / ETS</a:t>
            </a:r>
            <a:r>
              <a:rPr lang="en-US" sz="1200" dirty="0"/>
              <a:t>)</a:t>
            </a:r>
          </a:p>
          <a:p>
            <a:pPr marL="171450" indent="-171450">
              <a:buClr>
                <a:schemeClr val="accent1"/>
              </a:buClr>
              <a:buFont typeface="System Font Regular"/>
              <a:buChar char="▹"/>
            </a:pPr>
            <a:r>
              <a:rPr lang="en-US" sz="1200" dirty="0"/>
              <a:t>Enables measurable, objective risk detection and decision optimization</a:t>
            </a:r>
          </a:p>
          <a:p>
            <a:endParaRPr lang="en-US" sz="1200" dirty="0"/>
          </a:p>
          <a:p>
            <a:pPr>
              <a:buNone/>
            </a:pPr>
            <a:r>
              <a:rPr lang="en-US" sz="1200" b="1" dirty="0"/>
              <a:t>Qualitative Component</a:t>
            </a:r>
            <a:endParaRPr lang="en-US" sz="1200" dirty="0"/>
          </a:p>
          <a:p>
            <a:pPr marL="171450" indent="-171450">
              <a:buClr>
                <a:schemeClr val="accent1"/>
              </a:buClr>
              <a:buFont typeface="System Font Regular"/>
              <a:buChar char="▹"/>
            </a:pPr>
            <a:r>
              <a:rPr lang="en-US" sz="1200" dirty="0"/>
              <a:t>Agents apply contextual reasoning based on business rules and constraints</a:t>
            </a:r>
          </a:p>
          <a:p>
            <a:pPr marL="171450" indent="-171450">
              <a:buClr>
                <a:schemeClr val="accent1"/>
              </a:buClr>
              <a:buFont typeface="System Font Regular"/>
              <a:buChar char="▹"/>
            </a:pPr>
            <a:r>
              <a:rPr lang="en-US" sz="1200" dirty="0"/>
              <a:t>Generates interpretable, actionable recommendations (pricing, redistribution, intervention)</a:t>
            </a:r>
          </a:p>
          <a:p>
            <a:pPr marL="171450" indent="-171450">
              <a:buClr>
                <a:schemeClr val="accent1"/>
              </a:buClr>
              <a:buFont typeface="System Font Regular"/>
              <a:buChar char="▹"/>
            </a:pPr>
            <a:r>
              <a:rPr lang="en-US" sz="1200" dirty="0"/>
              <a:t>Combines data-driven analysis with intelligent, explainable decision logic</a:t>
            </a:r>
          </a:p>
        </p:txBody>
      </p:sp>
    </p:spTree>
    <p:extLst>
      <p:ext uri="{BB962C8B-B14F-4D97-AF65-F5344CB8AC3E}">
        <p14:creationId xmlns:p14="http://schemas.microsoft.com/office/powerpoint/2010/main" val="300947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86A1-BAAE-FDA8-0599-B98BA3C9D841}"/>
              </a:ext>
            </a:extLst>
          </p:cNvPr>
          <p:cNvSpPr>
            <a:spLocks noGrp="1"/>
          </p:cNvSpPr>
          <p:nvPr>
            <p:ph type="title"/>
          </p:nvPr>
        </p:nvSpPr>
        <p:spPr>
          <a:xfrm>
            <a:off x="111512" y="392575"/>
            <a:ext cx="6735337" cy="766200"/>
          </a:xfrm>
        </p:spPr>
        <p:txBody>
          <a:bodyPr/>
          <a:lstStyle/>
          <a:p>
            <a:r>
              <a:rPr lang="en-US" dirty="0"/>
              <a:t>Layered System Architecture</a:t>
            </a:r>
          </a:p>
        </p:txBody>
      </p:sp>
      <p:sp>
        <p:nvSpPr>
          <p:cNvPr id="4" name="Slide Number Placeholder 3">
            <a:extLst>
              <a:ext uri="{FF2B5EF4-FFF2-40B4-BE49-F238E27FC236}">
                <a16:creationId xmlns:a16="http://schemas.microsoft.com/office/drawing/2014/main" id="{A48F91ED-4E93-4C05-3096-8593D213D0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7" name="Picture 6" descr="A screenshot of a computer&#10;&#10;AI-generated content may be incorrect.">
            <a:extLst>
              <a:ext uri="{FF2B5EF4-FFF2-40B4-BE49-F238E27FC236}">
                <a16:creationId xmlns:a16="http://schemas.microsoft.com/office/drawing/2014/main" id="{C86C7A40-3AB4-CA4A-8E82-976ABEA9F436}"/>
              </a:ext>
            </a:extLst>
          </p:cNvPr>
          <p:cNvPicPr>
            <a:picLocks noChangeAspect="1"/>
          </p:cNvPicPr>
          <p:nvPr/>
        </p:nvPicPr>
        <p:blipFill>
          <a:blip r:embed="rId2"/>
          <a:stretch>
            <a:fillRect/>
          </a:stretch>
        </p:blipFill>
        <p:spPr>
          <a:xfrm>
            <a:off x="933425" y="1355452"/>
            <a:ext cx="7041735" cy="3281048"/>
          </a:xfrm>
          <a:prstGeom prst="rect">
            <a:avLst/>
          </a:prstGeom>
        </p:spPr>
      </p:pic>
    </p:spTree>
    <p:extLst>
      <p:ext uri="{BB962C8B-B14F-4D97-AF65-F5344CB8AC3E}">
        <p14:creationId xmlns:p14="http://schemas.microsoft.com/office/powerpoint/2010/main" val="2019697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48E64-7DDA-76C2-6569-1448831DE751}"/>
              </a:ext>
            </a:extLst>
          </p:cNvPr>
          <p:cNvSpPr>
            <a:spLocks noGrp="1"/>
          </p:cNvSpPr>
          <p:nvPr>
            <p:ph type="title"/>
          </p:nvPr>
        </p:nvSpPr>
        <p:spPr>
          <a:xfrm>
            <a:off x="218830" y="392575"/>
            <a:ext cx="7963877" cy="607794"/>
          </a:xfrm>
        </p:spPr>
        <p:txBody>
          <a:bodyPr/>
          <a:lstStyle/>
          <a:p>
            <a:r>
              <a:rPr lang="en-US" dirty="0"/>
              <a:t>Layered System Architecture</a:t>
            </a:r>
          </a:p>
        </p:txBody>
      </p:sp>
      <p:sp>
        <p:nvSpPr>
          <p:cNvPr id="3" name="Text Placeholder 2">
            <a:extLst>
              <a:ext uri="{FF2B5EF4-FFF2-40B4-BE49-F238E27FC236}">
                <a16:creationId xmlns:a16="http://schemas.microsoft.com/office/drawing/2014/main" id="{74E08E66-EF57-AA8F-50E0-881C90F5C75B}"/>
              </a:ext>
            </a:extLst>
          </p:cNvPr>
          <p:cNvSpPr>
            <a:spLocks noGrp="1"/>
          </p:cNvSpPr>
          <p:nvPr>
            <p:ph type="body" idx="1"/>
          </p:nvPr>
        </p:nvSpPr>
        <p:spPr>
          <a:xfrm>
            <a:off x="814274" y="1743342"/>
            <a:ext cx="6962033" cy="2729507"/>
          </a:xfrm>
        </p:spPr>
        <p:txBody>
          <a:bodyPr/>
          <a:lstStyle/>
          <a:p>
            <a:r>
              <a:rPr lang="en-US" sz="1200" b="1" dirty="0" err="1"/>
              <a:t>SmartCart</a:t>
            </a:r>
            <a:r>
              <a:rPr lang="en-US" sz="1200" b="1" dirty="0"/>
              <a:t> AI – whole </a:t>
            </a:r>
            <a:r>
              <a:rPr lang="en-US" sz="1200" b="1" dirty="0" err="1"/>
              <a:t>systemFront</a:t>
            </a:r>
            <a:r>
              <a:rPr lang="en-US" sz="1200" b="1" dirty="0"/>
              <a:t>-end:</a:t>
            </a:r>
            <a:r>
              <a:rPr lang="en-US" sz="1200" dirty="0"/>
              <a:t> Manager dashboard, simulation, chatbot → calls Java backend (inventory, sales, demand, suggestions, agent chat).</a:t>
            </a:r>
          </a:p>
          <a:p>
            <a:r>
              <a:rPr lang="en-US" sz="1200" b="1" dirty="0"/>
              <a:t>Java (Maven):</a:t>
            </a:r>
            <a:r>
              <a:rPr lang="en-US" sz="1200" dirty="0"/>
              <a:t> REST API → CRUD + proxy to Python agents (chat, orchestrate, inventory signal).</a:t>
            </a:r>
          </a:p>
          <a:p>
            <a:r>
              <a:rPr lang="en-US" sz="1200" b="1" dirty="0"/>
              <a:t>Agent layer:</a:t>
            </a:r>
            <a:r>
              <a:rPr lang="en-US" sz="1200" dirty="0"/>
              <a:t> Chat (entry) → Inventory (query + </a:t>
            </a:r>
            <a:r>
              <a:rPr lang="en-US" sz="1200" b="1" dirty="0"/>
              <a:t>demand forecast</a:t>
            </a:r>
            <a:r>
              <a:rPr lang="en-US" sz="1200" dirty="0"/>
              <a:t>) → Decision Orchestrator → sub-agents (Risk, Feasibility, Cost, Explanation). Uses </a:t>
            </a:r>
            <a:r>
              <a:rPr lang="en-US" sz="1200" b="1" dirty="0"/>
              <a:t>Fast MCP</a:t>
            </a:r>
            <a:r>
              <a:rPr lang="en-US" sz="1200" dirty="0"/>
              <a:t>, </a:t>
            </a:r>
            <a:r>
              <a:rPr lang="en-US" sz="1200" b="1" dirty="0"/>
              <a:t>Mistral LLM</a:t>
            </a:r>
            <a:r>
              <a:rPr lang="en-US" sz="1200" dirty="0"/>
              <a:t>, </a:t>
            </a:r>
            <a:r>
              <a:rPr lang="en-US" sz="1200" b="1" dirty="0"/>
              <a:t>RAG</a:t>
            </a:r>
            <a:r>
              <a:rPr lang="en-US" sz="1200" dirty="0"/>
              <a:t> (PostgreSQL).</a:t>
            </a:r>
          </a:p>
          <a:p>
            <a:r>
              <a:rPr lang="en-US" sz="1200" b="1" dirty="0"/>
              <a:t>Demand forecasting:</a:t>
            </a:r>
            <a:r>
              <a:rPr lang="en-US" sz="1200" dirty="0"/>
              <a:t> </a:t>
            </a:r>
            <a:r>
              <a:rPr lang="en-US" sz="1200" b="1" dirty="0"/>
              <a:t>ETS (Holt–Winters)</a:t>
            </a:r>
            <a:r>
              <a:rPr lang="en-US" sz="1200" dirty="0"/>
              <a:t> with </a:t>
            </a:r>
            <a:r>
              <a:rPr lang="en-US" sz="1200" b="1" dirty="0"/>
              <a:t>3 parameters: </a:t>
            </a:r>
            <a:r>
              <a:rPr lang="el-GR" sz="1200" b="1" dirty="0"/>
              <a:t>α (</a:t>
            </a:r>
            <a:r>
              <a:rPr lang="en-US" sz="1200" b="1" dirty="0"/>
              <a:t>level), </a:t>
            </a:r>
            <a:r>
              <a:rPr lang="el-GR" sz="1200" b="1" dirty="0"/>
              <a:t>β (</a:t>
            </a:r>
            <a:r>
              <a:rPr lang="en-US" sz="1200" b="1" dirty="0"/>
              <a:t>trend), </a:t>
            </a:r>
            <a:r>
              <a:rPr lang="el-GR" sz="1200" b="1" dirty="0"/>
              <a:t>γ (</a:t>
            </a:r>
            <a:r>
              <a:rPr lang="en-US" sz="1200" b="1" dirty="0"/>
              <a:t>seasonal)</a:t>
            </a:r>
            <a:r>
              <a:rPr lang="en-US" sz="1200" dirty="0"/>
              <a:t>; also exponential smoothing and moving average. Parameters via env (ETS_ALPHA, ETS_BETA, ETS_GAMMA); input from PostgreSQL consumption.</a:t>
            </a:r>
          </a:p>
          <a:p>
            <a:r>
              <a:rPr lang="en-US" sz="1200" b="1" dirty="0"/>
              <a:t>Data:</a:t>
            </a:r>
            <a:r>
              <a:rPr lang="en-US" sz="1200" dirty="0"/>
              <a:t> PostgreSQL (inventory, sales, consumption, demand, suggestions); optional vector/RAG for similar-item retrieval in orchestrator. LLM and MCP use DB for context and to store results.</a:t>
            </a:r>
          </a:p>
          <a:p>
            <a:r>
              <a:rPr lang="en-US" sz="1200" b="1" dirty="0"/>
              <a:t>Flow:</a:t>
            </a:r>
            <a:r>
              <a:rPr lang="en-US" sz="1200" dirty="0"/>
              <a:t> User → Front-end → Java → Agents (forecast, MCP, LLM, RAG) → DB → results back to agents → Java → Front-end (dashboard, chatbot, suggestion log, simulation).</a:t>
            </a:r>
            <a:endParaRPr lang="en-US" sz="1200" dirty="0">
              <a:effectLst/>
            </a:endParaRPr>
          </a:p>
        </p:txBody>
      </p:sp>
      <p:sp>
        <p:nvSpPr>
          <p:cNvPr id="4" name="Slide Number Placeholder 3">
            <a:extLst>
              <a:ext uri="{FF2B5EF4-FFF2-40B4-BE49-F238E27FC236}">
                <a16:creationId xmlns:a16="http://schemas.microsoft.com/office/drawing/2014/main" id="{08D7178C-37FE-6243-E797-BF1C0FBF44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853444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41364-F198-939F-5112-3F071B41C73A}"/>
              </a:ext>
            </a:extLst>
          </p:cNvPr>
          <p:cNvSpPr>
            <a:spLocks noGrp="1"/>
          </p:cNvSpPr>
          <p:nvPr>
            <p:ph type="title"/>
          </p:nvPr>
        </p:nvSpPr>
        <p:spPr/>
        <p:txBody>
          <a:bodyPr/>
          <a:lstStyle/>
          <a:p>
            <a:r>
              <a:rPr lang="en-US" dirty="0"/>
              <a:t>Data Analysis</a:t>
            </a:r>
          </a:p>
        </p:txBody>
      </p:sp>
      <p:sp>
        <p:nvSpPr>
          <p:cNvPr id="3" name="Text Placeholder 2">
            <a:extLst>
              <a:ext uri="{FF2B5EF4-FFF2-40B4-BE49-F238E27FC236}">
                <a16:creationId xmlns:a16="http://schemas.microsoft.com/office/drawing/2014/main" id="{29311E33-7FDE-D217-07A1-7103ADABA605}"/>
              </a:ext>
            </a:extLst>
          </p:cNvPr>
          <p:cNvSpPr>
            <a:spLocks noGrp="1"/>
          </p:cNvSpPr>
          <p:nvPr>
            <p:ph type="body" idx="1"/>
          </p:nvPr>
        </p:nvSpPr>
        <p:spPr>
          <a:xfrm>
            <a:off x="617720" y="1392964"/>
            <a:ext cx="4475573" cy="3478139"/>
          </a:xfrm>
        </p:spPr>
        <p:txBody>
          <a:bodyPr/>
          <a:lstStyle/>
          <a:p>
            <a:r>
              <a:rPr lang="en-US" sz="1050" b="1" dirty="0"/>
              <a:t>Source Datasets (Kaggle)</a:t>
            </a:r>
          </a:p>
          <a:p>
            <a:pPr marL="76200" indent="0">
              <a:buNone/>
            </a:pPr>
            <a:r>
              <a:rPr lang="en-US" sz="1050" dirty="0"/>
              <a:t>Grocery Inventory and Sales Dataset (Salahuddin Ahmed Shuvo)</a:t>
            </a:r>
            <a:br>
              <a:rPr lang="en-US" sz="1050" dirty="0"/>
            </a:br>
            <a:r>
              <a:rPr lang="en-US" sz="1050" dirty="0"/>
              <a:t>→ Product catalog, vendors, transactions, stock, and sales structure</a:t>
            </a:r>
          </a:p>
          <a:p>
            <a:pPr marL="76200" indent="0">
              <a:buNone/>
            </a:pPr>
            <a:r>
              <a:rPr lang="en-US" sz="1050" dirty="0"/>
              <a:t>Retail Store Inventory Forecasting Dataset (Anirudh Chauhan)</a:t>
            </a:r>
            <a:br>
              <a:rPr lang="en-US" sz="1050" dirty="0"/>
            </a:br>
            <a:r>
              <a:rPr lang="en-US" sz="1050" dirty="0"/>
              <a:t>→ Time-series inventory, demand patterns, and forecasting reference</a:t>
            </a:r>
          </a:p>
          <a:p>
            <a:r>
              <a:rPr lang="en-US" sz="1050" b="1" dirty="0"/>
              <a:t>Data Synthesis and Alignment</a:t>
            </a:r>
          </a:p>
          <a:p>
            <a:pPr marL="76200" indent="0">
              <a:buNone/>
            </a:pPr>
            <a:r>
              <a:rPr lang="en-US" sz="1050" dirty="0"/>
              <a:t>Kaggle data used as reference to generate schema-aligned dataset</a:t>
            </a:r>
          </a:p>
          <a:p>
            <a:pPr marL="76200" indent="0">
              <a:buNone/>
            </a:pPr>
            <a:r>
              <a:rPr lang="en-US" sz="1050" dirty="0"/>
              <a:t>Standardized scope: ~50 products, 1-year timeline</a:t>
            </a:r>
          </a:p>
          <a:p>
            <a:pPr marL="76200" indent="0">
              <a:buNone/>
            </a:pPr>
            <a:r>
              <a:rPr lang="en-US" sz="1050" dirty="0"/>
              <a:t>Generated entities:</a:t>
            </a:r>
          </a:p>
          <a:p>
            <a:pPr lvl="1"/>
            <a:r>
              <a:rPr lang="en-US" sz="1050" dirty="0">
                <a:latin typeface="+mn-lt"/>
              </a:rPr>
              <a:t>Inventory: products, categories, stock levels, vendors</a:t>
            </a:r>
          </a:p>
          <a:p>
            <a:pPr lvl="1"/>
            <a:r>
              <a:rPr lang="en-US" sz="1050" dirty="0">
                <a:latin typeface="+mn-lt"/>
              </a:rPr>
              <a:t>Sales: invoices, quantities, costs, purchase records</a:t>
            </a:r>
          </a:p>
          <a:p>
            <a:pPr lvl="1"/>
            <a:r>
              <a:rPr lang="en-US" sz="1050" dirty="0">
                <a:latin typeface="+mn-lt"/>
              </a:rPr>
              <a:t>Consumption: usage, spoilage, remaining stock</a:t>
            </a:r>
          </a:p>
          <a:p>
            <a:pPr marL="76200" indent="0">
              <a:buNone/>
            </a:pPr>
            <a:endParaRPr lang="en-US" sz="1050" dirty="0"/>
          </a:p>
        </p:txBody>
      </p:sp>
      <p:sp>
        <p:nvSpPr>
          <p:cNvPr id="4" name="Slide Number Placeholder 3">
            <a:extLst>
              <a:ext uri="{FF2B5EF4-FFF2-40B4-BE49-F238E27FC236}">
                <a16:creationId xmlns:a16="http://schemas.microsoft.com/office/drawing/2014/main" id="{0942C02C-FD05-EBB8-2F95-D8F2E757B0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7" name="Text Placeholder 2">
            <a:extLst>
              <a:ext uri="{FF2B5EF4-FFF2-40B4-BE49-F238E27FC236}">
                <a16:creationId xmlns:a16="http://schemas.microsoft.com/office/drawing/2014/main" id="{17509E48-B5CA-6EE2-4F86-E0D191051904}"/>
              </a:ext>
            </a:extLst>
          </p:cNvPr>
          <p:cNvSpPr txBox="1">
            <a:spLocks/>
          </p:cNvSpPr>
          <p:nvPr/>
        </p:nvSpPr>
        <p:spPr>
          <a:xfrm>
            <a:off x="4773113" y="775675"/>
            <a:ext cx="4475573" cy="3478139"/>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800" b="0" i="0" u="none" strike="noStrike" cap="none">
                <a:solidFill>
                  <a:srgbClr val="263248"/>
                </a:solidFill>
                <a:latin typeface="+mn-l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r>
              <a:rPr lang="en-US" sz="1050" b="1" dirty="0"/>
              <a:t>Database Load and Usage</a:t>
            </a:r>
          </a:p>
          <a:p>
            <a:pPr marL="76200" indent="0">
              <a:buNone/>
            </a:pPr>
            <a:r>
              <a:rPr lang="en-US" sz="1050" dirty="0"/>
              <a:t>CSV files loaded into PostgreSQL using COPY / \copy</a:t>
            </a:r>
          </a:p>
          <a:p>
            <a:pPr marL="76200" indent="0">
              <a:buNone/>
            </a:pPr>
            <a:r>
              <a:rPr lang="en-US" sz="1050" dirty="0"/>
              <a:t>Load order: Inventory → Sales → Consumption (FK dependency)</a:t>
            </a:r>
          </a:p>
          <a:p>
            <a:pPr marL="76200" indent="0">
              <a:buNone/>
            </a:pPr>
            <a:r>
              <a:rPr lang="en-US" sz="1050" dirty="0"/>
              <a:t>Database supports backend services and AI agents for:</a:t>
            </a:r>
          </a:p>
          <a:p>
            <a:pPr lvl="1"/>
            <a:r>
              <a:rPr lang="en-US" sz="1050" dirty="0">
                <a:latin typeface="+mn-lt"/>
              </a:rPr>
              <a:t>Cost analysis</a:t>
            </a:r>
          </a:p>
          <a:p>
            <a:pPr lvl="1"/>
            <a:r>
              <a:rPr lang="en-US" sz="1050" dirty="0">
                <a:latin typeface="+mn-lt"/>
              </a:rPr>
              <a:t>Demand forecasting</a:t>
            </a:r>
          </a:p>
          <a:p>
            <a:pPr lvl="1"/>
            <a:r>
              <a:rPr lang="en-US" sz="1050" dirty="0">
                <a:latin typeface="+mn-lt"/>
              </a:rPr>
              <a:t>Inventory decision intelligence</a:t>
            </a:r>
          </a:p>
          <a:p>
            <a:pPr marL="76200" indent="0">
              <a:buFont typeface="Roboto Condensed Light"/>
              <a:buNone/>
            </a:pPr>
            <a:endParaRPr lang="en-US" sz="1050" dirty="0"/>
          </a:p>
        </p:txBody>
      </p:sp>
    </p:spTree>
    <p:extLst>
      <p:ext uri="{BB962C8B-B14F-4D97-AF65-F5344CB8AC3E}">
        <p14:creationId xmlns:p14="http://schemas.microsoft.com/office/powerpoint/2010/main" val="1827027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AF46E-8AD8-F121-4FAA-E557C657BCAD}"/>
              </a:ext>
            </a:extLst>
          </p:cNvPr>
          <p:cNvSpPr>
            <a:spLocks noGrp="1"/>
          </p:cNvSpPr>
          <p:nvPr>
            <p:ph type="title"/>
          </p:nvPr>
        </p:nvSpPr>
        <p:spPr/>
        <p:txBody>
          <a:bodyPr/>
          <a:lstStyle/>
          <a:p>
            <a:r>
              <a:rPr lang="en-US" dirty="0"/>
              <a:t>ER DIAGRAM</a:t>
            </a:r>
          </a:p>
        </p:txBody>
      </p:sp>
      <p:sp>
        <p:nvSpPr>
          <p:cNvPr id="4" name="Slide Number Placeholder 3">
            <a:extLst>
              <a:ext uri="{FF2B5EF4-FFF2-40B4-BE49-F238E27FC236}">
                <a16:creationId xmlns:a16="http://schemas.microsoft.com/office/drawing/2014/main" id="{28D57CE1-3FD8-5FF7-B88D-188D306DFD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5" name="Picture 4" descr="A screenshot of a computer&#10;&#10;AI-generated content may be incorrect.">
            <a:extLst>
              <a:ext uri="{FF2B5EF4-FFF2-40B4-BE49-F238E27FC236}">
                <a16:creationId xmlns:a16="http://schemas.microsoft.com/office/drawing/2014/main" id="{510FADF9-DF78-9260-8749-F1DFF2506FEA}"/>
              </a:ext>
            </a:extLst>
          </p:cNvPr>
          <p:cNvPicPr>
            <a:picLocks noChangeAspect="1"/>
          </p:cNvPicPr>
          <p:nvPr/>
        </p:nvPicPr>
        <p:blipFill>
          <a:blip r:embed="rId2"/>
          <a:stretch>
            <a:fillRect/>
          </a:stretch>
        </p:blipFill>
        <p:spPr>
          <a:xfrm>
            <a:off x="5163092" y="766200"/>
            <a:ext cx="3850113" cy="3984725"/>
          </a:xfrm>
          <a:prstGeom prst="rect">
            <a:avLst/>
          </a:prstGeom>
        </p:spPr>
      </p:pic>
      <p:sp>
        <p:nvSpPr>
          <p:cNvPr id="8" name="TextBox 7">
            <a:extLst>
              <a:ext uri="{FF2B5EF4-FFF2-40B4-BE49-F238E27FC236}">
                <a16:creationId xmlns:a16="http://schemas.microsoft.com/office/drawing/2014/main" id="{D5E89EBB-94B8-01F6-D951-7DC8F39E250C}"/>
              </a:ext>
            </a:extLst>
          </p:cNvPr>
          <p:cNvSpPr txBox="1"/>
          <p:nvPr/>
        </p:nvSpPr>
        <p:spPr>
          <a:xfrm>
            <a:off x="476428" y="1379935"/>
            <a:ext cx="4576272" cy="2698175"/>
          </a:xfrm>
          <a:prstGeom prst="rect">
            <a:avLst/>
          </a:prstGeom>
          <a:noFill/>
        </p:spPr>
        <p:txBody>
          <a:bodyPr wrap="square">
            <a:spAutoFit/>
          </a:bodyPr>
          <a:lstStyle/>
          <a:p>
            <a:pPr algn="l">
              <a:spcBef>
                <a:spcPts val="150"/>
              </a:spcBef>
              <a:spcAft>
                <a:spcPts val="150"/>
              </a:spcAft>
              <a:buFont typeface="+mj-lt"/>
              <a:buAutoNum type="arabicPeriod"/>
            </a:pPr>
            <a:r>
              <a:rPr lang="en-US" sz="1200" b="1" i="0" dirty="0">
                <a:effectLst/>
                <a:latin typeface="+mn-lt"/>
              </a:rPr>
              <a:t>Inventory</a:t>
            </a:r>
            <a:r>
              <a:rPr lang="en-US" sz="1200" b="0" i="0" dirty="0">
                <a:effectLst/>
                <a:latin typeface="+mn-lt"/>
              </a:rPr>
              <a:t> – Master table: </a:t>
            </a:r>
            <a:r>
              <a:rPr lang="en-US" sz="1200" b="0" i="0" dirty="0" err="1">
                <a:effectLst/>
                <a:latin typeface="+mn-lt"/>
              </a:rPr>
              <a:t>inventory_id</a:t>
            </a:r>
            <a:r>
              <a:rPr lang="en-US" sz="1200" b="0" i="0" dirty="0">
                <a:effectLst/>
                <a:latin typeface="+mn-lt"/>
              </a:rPr>
              <a:t>, item details, thresholds, </a:t>
            </a:r>
            <a:r>
              <a:rPr lang="en-US" sz="1200" b="0" i="0" dirty="0" err="1">
                <a:effectLst/>
                <a:latin typeface="+mn-lt"/>
              </a:rPr>
              <a:t>selling_price</a:t>
            </a:r>
            <a:r>
              <a:rPr lang="en-US" sz="1200" b="0" i="0" dirty="0">
                <a:effectLst/>
                <a:latin typeface="+mn-lt"/>
              </a:rPr>
              <a:t>, optional embedding for RAG/similar items.</a:t>
            </a:r>
          </a:p>
          <a:p>
            <a:pPr algn="l">
              <a:spcBef>
                <a:spcPts val="150"/>
              </a:spcBef>
              <a:spcAft>
                <a:spcPts val="150"/>
              </a:spcAft>
              <a:buFont typeface="+mj-lt"/>
              <a:buAutoNum type="arabicPeriod" startAt="2"/>
            </a:pPr>
            <a:r>
              <a:rPr lang="en-US" sz="1200" b="1" i="0" dirty="0">
                <a:effectLst/>
                <a:latin typeface="+mn-lt"/>
              </a:rPr>
              <a:t>Transactions</a:t>
            </a:r>
            <a:r>
              <a:rPr lang="en-US" sz="1200" b="0" i="0" dirty="0">
                <a:effectLst/>
                <a:latin typeface="+mn-lt"/>
              </a:rPr>
              <a:t> – sales and consumption link to </a:t>
            </a:r>
            <a:r>
              <a:rPr lang="en-US" sz="1200" b="0" i="0" dirty="0" err="1">
                <a:effectLst/>
                <a:latin typeface="+mn-lt"/>
              </a:rPr>
              <a:t>inventory_id</a:t>
            </a:r>
            <a:r>
              <a:rPr lang="en-US" sz="1200" b="0" i="0" dirty="0">
                <a:effectLst/>
                <a:latin typeface="+mn-lt"/>
              </a:rPr>
              <a:t>; record sales and internal usage for forecasting inputs.</a:t>
            </a:r>
          </a:p>
          <a:p>
            <a:pPr algn="l">
              <a:spcBef>
                <a:spcPts val="150"/>
              </a:spcBef>
              <a:spcAft>
                <a:spcPts val="150"/>
              </a:spcAft>
              <a:buFont typeface="+mj-lt"/>
              <a:buAutoNum type="arabicPeriod" startAt="3"/>
            </a:pPr>
            <a:r>
              <a:rPr lang="en-US" sz="1200" b="1" i="0" dirty="0">
                <a:effectLst/>
                <a:latin typeface="+mn-lt"/>
              </a:rPr>
              <a:t>Demand</a:t>
            </a:r>
            <a:r>
              <a:rPr lang="en-US" sz="1200" b="0" i="0" dirty="0">
                <a:effectLst/>
                <a:latin typeface="+mn-lt"/>
              </a:rPr>
              <a:t> – Stores forecasts: </a:t>
            </a:r>
            <a:r>
              <a:rPr lang="en-US" sz="1200" b="0" i="0" dirty="0" err="1">
                <a:effectLst/>
                <a:latin typeface="+mn-lt"/>
              </a:rPr>
              <a:t>inventory_id</a:t>
            </a:r>
            <a:r>
              <a:rPr lang="en-US" sz="1200" b="0" i="0" dirty="0">
                <a:effectLst/>
                <a:latin typeface="+mn-lt"/>
              </a:rPr>
              <a:t>, </a:t>
            </a:r>
            <a:r>
              <a:rPr lang="en-US" sz="1200" b="0" i="0" dirty="0" err="1">
                <a:effectLst/>
                <a:latin typeface="+mn-lt"/>
              </a:rPr>
              <a:t>predicted_demand</a:t>
            </a:r>
            <a:r>
              <a:rPr lang="en-US" sz="1200" b="0" i="0" dirty="0">
                <a:effectLst/>
                <a:latin typeface="+mn-lt"/>
              </a:rPr>
              <a:t>, </a:t>
            </a:r>
            <a:r>
              <a:rPr lang="en-US" sz="1200" b="0" i="0" dirty="0" err="1">
                <a:effectLst/>
                <a:latin typeface="+mn-lt"/>
              </a:rPr>
              <a:t>model_version</a:t>
            </a:r>
            <a:r>
              <a:rPr lang="en-US" sz="1200" b="0" i="0" dirty="0">
                <a:effectLst/>
                <a:latin typeface="+mn-lt"/>
              </a:rPr>
              <a:t>, </a:t>
            </a:r>
            <a:r>
              <a:rPr lang="en-US" sz="1200" b="0" i="0" dirty="0" err="1">
                <a:effectLst/>
                <a:latin typeface="+mn-lt"/>
              </a:rPr>
              <a:t>prediction_date</a:t>
            </a:r>
            <a:r>
              <a:rPr lang="en-US" sz="1200" b="0" i="0" dirty="0">
                <a:effectLst/>
                <a:latin typeface="+mn-lt"/>
              </a:rPr>
              <a:t> (e.g. ETS output).</a:t>
            </a:r>
          </a:p>
          <a:p>
            <a:pPr algn="l">
              <a:spcBef>
                <a:spcPts val="150"/>
              </a:spcBef>
              <a:spcAft>
                <a:spcPts val="150"/>
              </a:spcAft>
              <a:buFont typeface="+mj-lt"/>
              <a:buAutoNum type="arabicPeriod" startAt="4"/>
            </a:pPr>
            <a:r>
              <a:rPr lang="en-US" sz="1200" b="1" i="0" dirty="0">
                <a:effectLst/>
                <a:latin typeface="+mn-lt"/>
              </a:rPr>
              <a:t>Suggestions</a:t>
            </a:r>
            <a:r>
              <a:rPr lang="en-US" sz="1200" b="0" i="0" dirty="0">
                <a:effectLst/>
                <a:latin typeface="+mn-lt"/>
              </a:rPr>
              <a:t> – AI recommendations: </a:t>
            </a:r>
            <a:r>
              <a:rPr lang="en-US" sz="1200" b="0" i="0" dirty="0" err="1">
                <a:effectLst/>
                <a:latin typeface="+mn-lt"/>
              </a:rPr>
              <a:t>inventory_id</a:t>
            </a:r>
            <a:r>
              <a:rPr lang="en-US" sz="1200" b="0" i="0" dirty="0">
                <a:effectLst/>
                <a:latin typeface="+mn-lt"/>
              </a:rPr>
              <a:t>, </a:t>
            </a:r>
            <a:r>
              <a:rPr lang="en-US" sz="1200" b="0" i="0" dirty="0" err="1">
                <a:effectLst/>
                <a:latin typeface="+mn-lt"/>
              </a:rPr>
              <a:t>user_query</a:t>
            </a:r>
            <a:r>
              <a:rPr lang="en-US" sz="1200" b="0" i="0" dirty="0">
                <a:effectLst/>
                <a:latin typeface="+mn-lt"/>
              </a:rPr>
              <a:t>, action, reasoning, </a:t>
            </a:r>
            <a:r>
              <a:rPr lang="en-US" sz="1200" b="0" i="0" dirty="0" err="1">
                <a:effectLst/>
                <a:latin typeface="+mn-lt"/>
              </a:rPr>
              <a:t>forecasted_demand</a:t>
            </a:r>
            <a:r>
              <a:rPr lang="en-US" sz="1200" b="0" i="0" dirty="0">
                <a:effectLst/>
                <a:latin typeface="+mn-lt"/>
              </a:rPr>
              <a:t>, risk/cost/explanation, status.</a:t>
            </a:r>
          </a:p>
          <a:p>
            <a:pPr algn="l">
              <a:spcBef>
                <a:spcPts val="150"/>
              </a:spcBef>
              <a:spcAft>
                <a:spcPts val="150"/>
              </a:spcAft>
              <a:buFont typeface="+mj-lt"/>
              <a:buAutoNum type="arabicPeriod" startAt="5"/>
            </a:pPr>
            <a:r>
              <a:rPr lang="en-US" sz="1200" b="1" i="0" dirty="0">
                <a:effectLst/>
                <a:latin typeface="+mn-lt"/>
              </a:rPr>
              <a:t>Flow</a:t>
            </a:r>
            <a:r>
              <a:rPr lang="en-US" sz="1200" b="0" i="0" dirty="0">
                <a:effectLst/>
                <a:latin typeface="+mn-lt"/>
              </a:rPr>
              <a:t> – Inventory → sales/consumption → demand (forecast) → suggestions (agent output); all key tables reference inventory</a:t>
            </a:r>
          </a:p>
        </p:txBody>
      </p:sp>
    </p:spTree>
    <p:extLst>
      <p:ext uri="{BB962C8B-B14F-4D97-AF65-F5344CB8AC3E}">
        <p14:creationId xmlns:p14="http://schemas.microsoft.com/office/powerpoint/2010/main" val="1202165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176C-CC9D-33A9-5155-395DA5F0E60B}"/>
              </a:ext>
            </a:extLst>
          </p:cNvPr>
          <p:cNvSpPr>
            <a:spLocks noGrp="1"/>
          </p:cNvSpPr>
          <p:nvPr>
            <p:ph type="title"/>
          </p:nvPr>
        </p:nvSpPr>
        <p:spPr/>
        <p:txBody>
          <a:bodyPr/>
          <a:lstStyle/>
          <a:p>
            <a:r>
              <a:rPr lang="en-US" dirty="0"/>
              <a:t>Use Case Diagram</a:t>
            </a:r>
          </a:p>
        </p:txBody>
      </p:sp>
      <p:sp>
        <p:nvSpPr>
          <p:cNvPr id="3" name="Text Placeholder 2">
            <a:extLst>
              <a:ext uri="{FF2B5EF4-FFF2-40B4-BE49-F238E27FC236}">
                <a16:creationId xmlns:a16="http://schemas.microsoft.com/office/drawing/2014/main" id="{B3F2E7DC-C54B-8D27-824A-BA652B87CF51}"/>
              </a:ext>
            </a:extLst>
          </p:cNvPr>
          <p:cNvSpPr>
            <a:spLocks noGrp="1"/>
          </p:cNvSpPr>
          <p:nvPr>
            <p:ph type="body" idx="1"/>
          </p:nvPr>
        </p:nvSpPr>
        <p:spPr>
          <a:xfrm>
            <a:off x="147637" y="1860868"/>
            <a:ext cx="5662148" cy="2911704"/>
          </a:xfrm>
        </p:spPr>
        <p:txBody>
          <a:bodyPr/>
          <a:lstStyle/>
          <a:p>
            <a:r>
              <a:rPr lang="en-US" sz="1400" dirty="0"/>
              <a:t>Primary Actors: Connects the Inventory Manager (human) with specialized AI Agents and external Retail APIs.</a:t>
            </a:r>
          </a:p>
          <a:p>
            <a:r>
              <a:rPr lang="en-US" sz="1400" dirty="0"/>
              <a:t>Intelligence Layer: Uses AI to Predict Depletion and Forecast Consumption rather than just tracking current levels.</a:t>
            </a:r>
          </a:p>
          <a:p>
            <a:r>
              <a:rPr lang="en-US" sz="1400" dirty="0"/>
              <a:t>Autonomous Decision-Making:</a:t>
            </a:r>
          </a:p>
          <a:p>
            <a:pPr marL="76200" indent="0">
              <a:buNone/>
            </a:pPr>
            <a:r>
              <a:rPr lang="en-US" sz="1400" dirty="0"/>
              <a:t>Model Decision Sequence: Orchestrates the logic for interventions.</a:t>
            </a:r>
          </a:p>
          <a:p>
            <a:pPr marL="76200" indent="0">
              <a:buNone/>
            </a:pPr>
            <a:r>
              <a:rPr lang="en-US" sz="1400" dirty="0"/>
              <a:t>Prescribe Actions: Suggests solutions, with optional Cost Optimization triggers.</a:t>
            </a:r>
          </a:p>
          <a:p>
            <a:r>
              <a:rPr lang="en-US" sz="1400" dirty="0"/>
              <a:t>Operational Execution: Seamlessly bridges data insights to real-world actions via the Execute Interventions flow.</a:t>
            </a:r>
          </a:p>
          <a:p>
            <a:r>
              <a:rPr lang="en-US" sz="1400" dirty="0"/>
              <a:t>Sub-Agent Capabilities: Enhances decisions through specialized logic for Risk, Feasibility, Cost, and Explanations.</a:t>
            </a:r>
          </a:p>
          <a:p>
            <a:pPr marL="76200" indent="0">
              <a:buNone/>
            </a:pPr>
            <a:endParaRPr lang="en-US" sz="1400" dirty="0"/>
          </a:p>
          <a:p>
            <a:pPr marL="76200" indent="0">
              <a:buNone/>
            </a:pPr>
            <a:endParaRPr lang="en-US" sz="1400" dirty="0"/>
          </a:p>
          <a:p>
            <a:endParaRPr lang="en-US" sz="1400" dirty="0"/>
          </a:p>
        </p:txBody>
      </p:sp>
      <p:sp>
        <p:nvSpPr>
          <p:cNvPr id="4" name="Slide Number Placeholder 3">
            <a:extLst>
              <a:ext uri="{FF2B5EF4-FFF2-40B4-BE49-F238E27FC236}">
                <a16:creationId xmlns:a16="http://schemas.microsoft.com/office/drawing/2014/main" id="{4F368E5F-846A-CD7D-A64F-9B46EE197B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2051" name="Picture 3" descr="A diagram of a process&#10;&#10;AI-generated content may be incorrect.">
            <a:extLst>
              <a:ext uri="{FF2B5EF4-FFF2-40B4-BE49-F238E27FC236}">
                <a16:creationId xmlns:a16="http://schemas.microsoft.com/office/drawing/2014/main" id="{8167A358-A79F-D53C-B801-5F5C486230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9063" y="1260087"/>
            <a:ext cx="3496337" cy="2932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806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D667D-B9B5-1B3D-C477-557AF8EA3489}"/>
              </a:ext>
            </a:extLst>
          </p:cNvPr>
          <p:cNvSpPr>
            <a:spLocks noGrp="1"/>
          </p:cNvSpPr>
          <p:nvPr>
            <p:ph type="title"/>
          </p:nvPr>
        </p:nvSpPr>
        <p:spPr/>
        <p:txBody>
          <a:bodyPr/>
          <a:lstStyle/>
          <a:p>
            <a:r>
              <a:rPr lang="en-US" dirty="0"/>
              <a:t>UI Flow</a:t>
            </a:r>
          </a:p>
        </p:txBody>
      </p:sp>
      <p:sp>
        <p:nvSpPr>
          <p:cNvPr id="4" name="Slide Number Placeholder 3">
            <a:extLst>
              <a:ext uri="{FF2B5EF4-FFF2-40B4-BE49-F238E27FC236}">
                <a16:creationId xmlns:a16="http://schemas.microsoft.com/office/drawing/2014/main" id="{B1CD6F7B-EFA0-4120-28C8-D048F2202D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pic>
        <p:nvPicPr>
          <p:cNvPr id="3074" name="Picture 2">
            <a:extLst>
              <a:ext uri="{FF2B5EF4-FFF2-40B4-BE49-F238E27FC236}">
                <a16:creationId xmlns:a16="http://schemas.microsoft.com/office/drawing/2014/main" id="{BB0007B0-4A56-8F6A-743E-3A83B2F13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0414" y="1327350"/>
            <a:ext cx="7243985" cy="360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0435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281B0-81D5-60BF-99A6-C794D4EA8A60}"/>
              </a:ext>
            </a:extLst>
          </p:cNvPr>
          <p:cNvSpPr>
            <a:spLocks noGrp="1"/>
          </p:cNvSpPr>
          <p:nvPr>
            <p:ph type="title"/>
          </p:nvPr>
        </p:nvSpPr>
        <p:spPr/>
        <p:txBody>
          <a:bodyPr/>
          <a:lstStyle/>
          <a:p>
            <a:r>
              <a:rPr lang="en-US" dirty="0"/>
              <a:t>UI Pages</a:t>
            </a:r>
          </a:p>
        </p:txBody>
      </p:sp>
      <p:sp>
        <p:nvSpPr>
          <p:cNvPr id="4" name="Slide Number Placeholder 3">
            <a:extLst>
              <a:ext uri="{FF2B5EF4-FFF2-40B4-BE49-F238E27FC236}">
                <a16:creationId xmlns:a16="http://schemas.microsoft.com/office/drawing/2014/main" id="{7F5B04C8-2E83-CC2B-7AB6-E99F4192E4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pic>
        <p:nvPicPr>
          <p:cNvPr id="4102" name="Picture 6" descr="A screenshot of a phone&#10;&#10;AI-generated content may be incorrect.">
            <a:extLst>
              <a:ext uri="{FF2B5EF4-FFF2-40B4-BE49-F238E27FC236}">
                <a16:creationId xmlns:a16="http://schemas.microsoft.com/office/drawing/2014/main" id="{47B86EE1-9367-19AD-D43B-DC665E1F3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3725" y="1443189"/>
            <a:ext cx="2818275" cy="341642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A screenshot of a phone&#10;&#10;AI-generated content may be incorrect.">
            <a:extLst>
              <a:ext uri="{FF2B5EF4-FFF2-40B4-BE49-F238E27FC236}">
                <a16:creationId xmlns:a16="http://schemas.microsoft.com/office/drawing/2014/main" id="{1D933827-7757-38C9-E85F-C955DED34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175" y="1410825"/>
            <a:ext cx="2921000" cy="334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492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FDE1-5B35-8ED3-398B-F401A151C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D0238-DC75-FD16-BC28-A7F9F81C2114}"/>
              </a:ext>
            </a:extLst>
          </p:cNvPr>
          <p:cNvSpPr>
            <a:spLocks noGrp="1"/>
          </p:cNvSpPr>
          <p:nvPr>
            <p:ph type="title"/>
          </p:nvPr>
        </p:nvSpPr>
        <p:spPr/>
        <p:txBody>
          <a:bodyPr/>
          <a:lstStyle/>
          <a:p>
            <a:r>
              <a:rPr lang="en-US" dirty="0"/>
              <a:t>UI Pages</a:t>
            </a:r>
          </a:p>
        </p:txBody>
      </p:sp>
      <p:sp>
        <p:nvSpPr>
          <p:cNvPr id="4" name="Slide Number Placeholder 3">
            <a:extLst>
              <a:ext uri="{FF2B5EF4-FFF2-40B4-BE49-F238E27FC236}">
                <a16:creationId xmlns:a16="http://schemas.microsoft.com/office/drawing/2014/main" id="{F28575BD-F999-72B9-7BD2-B88A7480E6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pic>
        <p:nvPicPr>
          <p:cNvPr id="6150" name="Picture 6" descr="A screenshot of a phone&#10;&#10;AI-generated content may be incorrect.">
            <a:extLst>
              <a:ext uri="{FF2B5EF4-FFF2-40B4-BE49-F238E27FC236}">
                <a16:creationId xmlns:a16="http://schemas.microsoft.com/office/drawing/2014/main" id="{45FC31E5-B5B0-2691-5A9A-1FC3BF06C0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2221" y="1379814"/>
            <a:ext cx="2781300" cy="3414486"/>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A screenshot of a phone&#10;&#10;AI-generated content may be incorrect.">
            <a:extLst>
              <a:ext uri="{FF2B5EF4-FFF2-40B4-BE49-F238E27FC236}">
                <a16:creationId xmlns:a16="http://schemas.microsoft.com/office/drawing/2014/main" id="{1BA91D3A-6F0E-1A99-FA13-B43E2BDCE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4300" y="1336440"/>
            <a:ext cx="2933700" cy="3414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620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8EF8A-A7E7-7014-BBB3-883809284754}"/>
              </a:ext>
            </a:extLst>
          </p:cNvPr>
          <p:cNvSpPr>
            <a:spLocks noGrp="1"/>
          </p:cNvSpPr>
          <p:nvPr>
            <p:ph type="title"/>
          </p:nvPr>
        </p:nvSpPr>
        <p:spPr/>
        <p:txBody>
          <a:bodyPr/>
          <a:lstStyle/>
          <a:p>
            <a:r>
              <a:rPr lang="en-US" dirty="0"/>
              <a:t>API DESIGN</a:t>
            </a:r>
          </a:p>
        </p:txBody>
      </p:sp>
      <p:sp>
        <p:nvSpPr>
          <p:cNvPr id="3" name="Text Placeholder 2">
            <a:extLst>
              <a:ext uri="{FF2B5EF4-FFF2-40B4-BE49-F238E27FC236}">
                <a16:creationId xmlns:a16="http://schemas.microsoft.com/office/drawing/2014/main" id="{C87D3A24-39F8-1C82-F1F4-290EC4D4268B}"/>
              </a:ext>
            </a:extLst>
          </p:cNvPr>
          <p:cNvSpPr>
            <a:spLocks noGrp="1"/>
          </p:cNvSpPr>
          <p:nvPr>
            <p:ph type="body" idx="1"/>
          </p:nvPr>
        </p:nvSpPr>
        <p:spPr>
          <a:xfrm>
            <a:off x="198977" y="1948441"/>
            <a:ext cx="8235722" cy="2688058"/>
          </a:xfrm>
        </p:spPr>
        <p:txBody>
          <a:bodyPr numCol="2">
            <a:normAutofit fontScale="92500" lnSpcReduction="10000"/>
          </a:bodyPr>
          <a:lstStyle/>
          <a:p>
            <a:r>
              <a:rPr lang="en-US" sz="1000" b="1" dirty="0"/>
              <a:t>REST Controllers (/</a:t>
            </a:r>
            <a:r>
              <a:rPr lang="en-US" sz="1000" b="1" dirty="0" err="1"/>
              <a:t>api</a:t>
            </a:r>
            <a:r>
              <a:rPr lang="en-US" sz="1000" b="1" dirty="0"/>
              <a:t>/</a:t>
            </a:r>
            <a:r>
              <a:rPr lang="en-US" sz="1000" dirty="0"/>
              <a:t>*)</a:t>
            </a:r>
          </a:p>
          <a:p>
            <a:pPr lvl="1">
              <a:buFont typeface="System Font Regular"/>
              <a:buChar char="▹"/>
            </a:pPr>
            <a:r>
              <a:rPr lang="en-US" sz="1000" dirty="0">
                <a:latin typeface="+mn-lt"/>
              </a:rPr>
              <a:t>Provide inventory, sales, demand, and suggestion endpoints</a:t>
            </a:r>
          </a:p>
          <a:p>
            <a:pPr lvl="1">
              <a:buFont typeface="System Font Regular"/>
              <a:buChar char="▹"/>
            </a:pPr>
            <a:r>
              <a:rPr lang="en-US" sz="1000" dirty="0">
                <a:latin typeface="+mn-lt"/>
              </a:rPr>
              <a:t>Suggestion API supports view, filter, and status updates</a:t>
            </a:r>
          </a:p>
          <a:p>
            <a:pPr lvl="1">
              <a:buFont typeface="System Font Regular"/>
              <a:buChar char="▹"/>
            </a:pPr>
            <a:r>
              <a:rPr lang="en-US" sz="1000" dirty="0">
                <a:latin typeface="+mn-lt"/>
              </a:rPr>
              <a:t>Documented using Swagger/</a:t>
            </a:r>
            <a:r>
              <a:rPr lang="en-US" sz="1000" dirty="0" err="1">
                <a:latin typeface="+mn-lt"/>
              </a:rPr>
              <a:t>OpenAPI</a:t>
            </a:r>
            <a:endParaRPr lang="en-US" sz="1000" dirty="0">
              <a:latin typeface="+mn-lt"/>
            </a:endParaRPr>
          </a:p>
          <a:p>
            <a:r>
              <a:rPr lang="en-US" sz="1000" b="1" dirty="0"/>
              <a:t>Agent Proxy (/</a:t>
            </a:r>
            <a:r>
              <a:rPr lang="en-US" sz="1000" b="1" dirty="0" err="1"/>
              <a:t>api</a:t>
            </a:r>
            <a:r>
              <a:rPr lang="en-US" sz="1000" b="1" dirty="0"/>
              <a:t>/agents)</a:t>
            </a:r>
            <a:endParaRPr lang="en-US" sz="1000" dirty="0"/>
          </a:p>
          <a:p>
            <a:pPr lvl="1">
              <a:buFont typeface="System Font Regular"/>
              <a:buChar char="▹"/>
            </a:pPr>
            <a:r>
              <a:rPr lang="en-US" sz="1000" dirty="0">
                <a:latin typeface="+mn-lt"/>
              </a:rPr>
              <a:t>Uses </a:t>
            </a:r>
            <a:r>
              <a:rPr lang="en-US" sz="1000" dirty="0" err="1">
                <a:latin typeface="+mn-lt"/>
              </a:rPr>
              <a:t>RestTemplate</a:t>
            </a:r>
            <a:r>
              <a:rPr lang="en-US" sz="1000" dirty="0">
                <a:latin typeface="+mn-lt"/>
              </a:rPr>
              <a:t> to communicate with Python agents</a:t>
            </a:r>
          </a:p>
          <a:p>
            <a:pPr lvl="1">
              <a:buFont typeface="System Font Regular"/>
              <a:buChar char="▹"/>
            </a:pPr>
            <a:r>
              <a:rPr lang="en-US" sz="1000" dirty="0">
                <a:latin typeface="+mn-lt"/>
              </a:rPr>
              <a:t>Supports inventory signals, decision orchestration, and chat</a:t>
            </a:r>
          </a:p>
          <a:p>
            <a:pPr lvl="1">
              <a:buFont typeface="System Font Regular"/>
              <a:buChar char="▹"/>
            </a:pPr>
            <a:r>
              <a:rPr lang="en-US" sz="1000" dirty="0">
                <a:latin typeface="+mn-lt"/>
              </a:rPr>
              <a:t>Agent URLs configured via environment variables</a:t>
            </a:r>
          </a:p>
          <a:p>
            <a:pPr lvl="1"/>
            <a:endParaRPr lang="en-US" sz="1000" dirty="0">
              <a:latin typeface="+mn-lt"/>
            </a:endParaRPr>
          </a:p>
          <a:p>
            <a:pPr lvl="1"/>
            <a:endParaRPr lang="en-US" sz="1000" dirty="0">
              <a:latin typeface="+mn-lt"/>
            </a:endParaRPr>
          </a:p>
          <a:p>
            <a:r>
              <a:rPr lang="en-US" sz="1000" b="1" dirty="0"/>
              <a:t>Data Layer</a:t>
            </a:r>
          </a:p>
          <a:p>
            <a:pPr>
              <a:buFont typeface="System Font Regular"/>
              <a:buChar char="▹"/>
            </a:pPr>
            <a:r>
              <a:rPr lang="en-US" sz="1000" dirty="0"/>
              <a:t>JPA entities map to PostgreSQL tables</a:t>
            </a:r>
          </a:p>
          <a:p>
            <a:pPr>
              <a:buFont typeface="System Font Regular"/>
              <a:buChar char="▹"/>
            </a:pPr>
            <a:r>
              <a:rPr lang="en-US" sz="1000" dirty="0"/>
              <a:t>Repositories provide CRUD and custom queries</a:t>
            </a:r>
          </a:p>
          <a:p>
            <a:pPr>
              <a:buFont typeface="System Font Regular"/>
              <a:buChar char="▹"/>
            </a:pPr>
            <a:r>
              <a:rPr lang="en-US" sz="1000" dirty="0"/>
              <a:t>Stores and retrieves AI-generated suggestions</a:t>
            </a:r>
          </a:p>
          <a:p>
            <a:pPr marL="76200" indent="0">
              <a:buNone/>
            </a:pPr>
            <a:endParaRPr lang="en-US" sz="1000" dirty="0"/>
          </a:p>
          <a:p>
            <a:r>
              <a:rPr lang="en-US" sz="1000" b="1" dirty="0"/>
              <a:t>Configuration</a:t>
            </a:r>
          </a:p>
          <a:p>
            <a:pPr>
              <a:buFont typeface="System Font Regular"/>
              <a:buChar char="▹"/>
            </a:pPr>
            <a:r>
              <a:rPr lang="en-US" sz="1000" dirty="0"/>
              <a:t>CORS enabled for frontend access</a:t>
            </a:r>
          </a:p>
          <a:p>
            <a:pPr>
              <a:buFont typeface="System Font Regular"/>
              <a:buChar char="▹"/>
            </a:pPr>
            <a:r>
              <a:rPr lang="en-US" sz="1000" dirty="0" err="1"/>
              <a:t>OpenAPI</a:t>
            </a:r>
            <a:r>
              <a:rPr lang="en-US" sz="1000" dirty="0"/>
              <a:t> for documentation</a:t>
            </a:r>
          </a:p>
          <a:p>
            <a:pPr>
              <a:buFont typeface="System Font Regular"/>
              <a:buChar char="▹"/>
            </a:pPr>
            <a:r>
              <a:rPr lang="en-US" sz="1000" dirty="0"/>
              <a:t>Controllers directly connect to database and agents</a:t>
            </a:r>
          </a:p>
          <a:p>
            <a:pPr marL="76200" indent="0">
              <a:buNone/>
            </a:pPr>
            <a:endParaRPr lang="en-US" sz="1000" dirty="0"/>
          </a:p>
          <a:p>
            <a:pPr marL="76200" indent="0">
              <a:buNone/>
            </a:pPr>
            <a:endParaRPr lang="en-US" sz="1000" dirty="0"/>
          </a:p>
          <a:p>
            <a:pPr marL="76200" indent="0">
              <a:buNone/>
            </a:pPr>
            <a:endParaRPr lang="en-US" sz="1000" dirty="0"/>
          </a:p>
        </p:txBody>
      </p:sp>
      <p:sp>
        <p:nvSpPr>
          <p:cNvPr id="4" name="Slide Number Placeholder 3">
            <a:extLst>
              <a:ext uri="{FF2B5EF4-FFF2-40B4-BE49-F238E27FC236}">
                <a16:creationId xmlns:a16="http://schemas.microsoft.com/office/drawing/2014/main" id="{46AE418C-87A8-A6B3-7163-AD0C6848F2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
        <p:nvSpPr>
          <p:cNvPr id="12" name="TextBox 11">
            <a:extLst>
              <a:ext uri="{FF2B5EF4-FFF2-40B4-BE49-F238E27FC236}">
                <a16:creationId xmlns:a16="http://schemas.microsoft.com/office/drawing/2014/main" id="{20EEAD75-93D3-8843-C057-33CC07D2F6AB}"/>
              </a:ext>
            </a:extLst>
          </p:cNvPr>
          <p:cNvSpPr txBox="1"/>
          <p:nvPr/>
        </p:nvSpPr>
        <p:spPr>
          <a:xfrm>
            <a:off x="814275" y="1384419"/>
            <a:ext cx="7210226" cy="646331"/>
          </a:xfrm>
          <a:prstGeom prst="rect">
            <a:avLst/>
          </a:prstGeom>
          <a:noFill/>
        </p:spPr>
        <p:txBody>
          <a:bodyPr wrap="square" rtlCol="0">
            <a:spAutoFit/>
          </a:bodyPr>
          <a:lstStyle/>
          <a:p>
            <a:pPr marL="76200" indent="0">
              <a:buNone/>
            </a:pPr>
            <a:r>
              <a:rPr lang="en-US" sz="1200" b="1" dirty="0"/>
              <a:t>Spring Boot 3.2 (Java 17)</a:t>
            </a:r>
            <a:r>
              <a:rPr lang="en-US" sz="1200" dirty="0"/>
              <a:t> backend with REST APIs and PostgreSQL (Spring Data JPA)</a:t>
            </a:r>
          </a:p>
          <a:p>
            <a:pPr marL="76200" indent="0">
              <a:buNone/>
            </a:pPr>
            <a:r>
              <a:rPr lang="en-US" sz="1200" dirty="0"/>
              <a:t>Manages </a:t>
            </a:r>
            <a:r>
              <a:rPr lang="en-US" sz="1200" b="1" dirty="0"/>
              <a:t>inventory, sales, demand, consumption, and AI suggestions</a:t>
            </a:r>
            <a:endParaRPr lang="en-US" sz="1200" dirty="0"/>
          </a:p>
          <a:p>
            <a:endParaRPr lang="en-US" sz="1200" dirty="0"/>
          </a:p>
        </p:txBody>
      </p:sp>
    </p:spTree>
    <p:extLst>
      <p:ext uri="{BB962C8B-B14F-4D97-AF65-F5344CB8AC3E}">
        <p14:creationId xmlns:p14="http://schemas.microsoft.com/office/powerpoint/2010/main" val="1154836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381A2-6CF7-C7BD-471E-0A4BA6107F82}"/>
              </a:ext>
            </a:extLst>
          </p:cNvPr>
          <p:cNvSpPr>
            <a:spLocks noGrp="1"/>
          </p:cNvSpPr>
          <p:nvPr>
            <p:ph type="title"/>
          </p:nvPr>
        </p:nvSpPr>
        <p:spPr/>
        <p:txBody>
          <a:bodyPr/>
          <a:lstStyle/>
          <a:p>
            <a:r>
              <a:rPr lang="en-US" dirty="0"/>
              <a:t>Descriptive Statistics</a:t>
            </a:r>
          </a:p>
        </p:txBody>
      </p:sp>
      <p:sp>
        <p:nvSpPr>
          <p:cNvPr id="3" name="Text Placeholder 2">
            <a:extLst>
              <a:ext uri="{FF2B5EF4-FFF2-40B4-BE49-F238E27FC236}">
                <a16:creationId xmlns:a16="http://schemas.microsoft.com/office/drawing/2014/main" id="{787EA1D4-0034-DAFE-F542-6CB4C2A7CB1F}"/>
              </a:ext>
            </a:extLst>
          </p:cNvPr>
          <p:cNvSpPr>
            <a:spLocks noGrp="1"/>
          </p:cNvSpPr>
          <p:nvPr>
            <p:ph type="body" idx="1"/>
          </p:nvPr>
        </p:nvSpPr>
        <p:spPr>
          <a:xfrm>
            <a:off x="814275" y="2025352"/>
            <a:ext cx="7962256" cy="2447497"/>
          </a:xfrm>
        </p:spPr>
        <p:txBody>
          <a:bodyPr/>
          <a:lstStyle/>
          <a:p>
            <a:r>
              <a:rPr lang="en-US" sz="1200" b="1" dirty="0"/>
              <a:t>Cost-Impact Subagent</a:t>
            </a:r>
          </a:p>
          <a:p>
            <a:pPr marL="76200" indent="0">
              <a:buNone/>
            </a:pPr>
            <a:r>
              <a:rPr lang="en-US" sz="1200" b="1" dirty="0"/>
              <a:t>          Mean (AVG):</a:t>
            </a:r>
            <a:r>
              <a:rPr lang="en-US" sz="1200" dirty="0"/>
              <a:t> Calculates average unit cost from recent sales</a:t>
            </a:r>
          </a:p>
          <a:p>
            <a:pPr marL="76200" indent="0">
              <a:buNone/>
            </a:pPr>
            <a:r>
              <a:rPr lang="en-US" sz="1200" dirty="0"/>
              <a:t>          Used to estimate reorder cost and compute profit margin %</a:t>
            </a:r>
          </a:p>
          <a:p>
            <a:r>
              <a:rPr lang="en-US" sz="1200" b="1" dirty="0"/>
              <a:t>Demand Forecast &amp; Decision Agents</a:t>
            </a:r>
          </a:p>
          <a:p>
            <a:pPr marL="76200" indent="0">
              <a:buNone/>
            </a:pPr>
            <a:r>
              <a:rPr lang="en-US" sz="1200" b="1" dirty="0"/>
              <a:t>          Sum &amp; Mean:</a:t>
            </a:r>
            <a:r>
              <a:rPr lang="en-US" sz="1200" dirty="0"/>
              <a:t> 7-day consumption summed and averaged → daily demand rate</a:t>
            </a:r>
          </a:p>
          <a:p>
            <a:pPr marL="76200" indent="0">
              <a:buNone/>
            </a:pPr>
            <a:r>
              <a:rPr lang="en-US" sz="1200" b="1" dirty="0"/>
              <a:t>          Counts &amp; Totals:</a:t>
            </a:r>
            <a:r>
              <a:rPr lang="en-US" sz="1200" dirty="0"/>
              <a:t> COUNT and SUM used for total items, total stock, and low-stock detection</a:t>
            </a:r>
          </a:p>
          <a:p>
            <a:pPr marL="76200" indent="0">
              <a:buNone/>
            </a:pPr>
            <a:r>
              <a:rPr lang="en-US" sz="1200" dirty="0"/>
              <a:t>          Supports reorder decisions and cost analysis</a:t>
            </a:r>
          </a:p>
          <a:p>
            <a:r>
              <a:rPr lang="en-US" sz="1200" b="1" dirty="0"/>
              <a:t>Inventory Forecasting Agent</a:t>
            </a:r>
          </a:p>
          <a:p>
            <a:pPr marL="76200" indent="0">
              <a:buNone/>
            </a:pPr>
            <a:r>
              <a:rPr lang="en-US" sz="1200" b="1" dirty="0"/>
              <a:t>         Moving Average:</a:t>
            </a:r>
            <a:r>
              <a:rPr lang="en-US" sz="1200" dirty="0"/>
              <a:t> Mean of recent demand (short-term forecast)</a:t>
            </a:r>
          </a:p>
          <a:p>
            <a:pPr marL="76200" indent="0">
              <a:buNone/>
            </a:pPr>
            <a:r>
              <a:rPr lang="en-US" sz="1200" b="1" dirty="0"/>
              <a:t>         Exponential Smoothing &amp; Holt-Winters (ETS):</a:t>
            </a:r>
            <a:r>
              <a:rPr lang="en-US" sz="1200" dirty="0"/>
              <a:t> Weighted averages capture trend and seasonality</a:t>
            </a:r>
          </a:p>
          <a:p>
            <a:pPr marL="76200" indent="0">
              <a:buNone/>
            </a:pPr>
            <a:r>
              <a:rPr lang="en-US" sz="1200" b="1" dirty="0"/>
              <a:t>         Min/Max Logic:</a:t>
            </a:r>
            <a:r>
              <a:rPr lang="en-US" sz="1200" dirty="0"/>
              <a:t> Uses </a:t>
            </a:r>
            <a:r>
              <a:rPr lang="en-US" sz="1200" dirty="0" err="1"/>
              <a:t>min_stock</a:t>
            </a:r>
            <a:r>
              <a:rPr lang="en-US" sz="1200" dirty="0"/>
              <a:t>, </a:t>
            </a:r>
            <a:r>
              <a:rPr lang="en-US" sz="1200" dirty="0" err="1"/>
              <a:t>max_capacity</a:t>
            </a:r>
            <a:r>
              <a:rPr lang="en-US" sz="1200" dirty="0"/>
              <a:t>, and current stock to detect low stock and overstock</a:t>
            </a:r>
          </a:p>
          <a:p>
            <a:r>
              <a:rPr lang="en-US" sz="1200" b="1" dirty="0"/>
              <a:t>UI and Dashboard</a:t>
            </a:r>
          </a:p>
          <a:p>
            <a:pPr marL="76200" indent="0">
              <a:buNone/>
            </a:pPr>
            <a:r>
              <a:rPr lang="en-US" sz="1200" dirty="0"/>
              <a:t>         Displays statistical summaries: total stock, low-stock items, thresholds</a:t>
            </a:r>
          </a:p>
          <a:p>
            <a:pPr marL="76200" indent="0">
              <a:buNone/>
            </a:pPr>
            <a:r>
              <a:rPr lang="en-US" sz="1200" dirty="0"/>
              <a:t>         Uses ratios and aggregates to show inventory health and recommendations</a:t>
            </a:r>
          </a:p>
          <a:p>
            <a:endParaRPr lang="en-US" sz="1200" dirty="0"/>
          </a:p>
        </p:txBody>
      </p:sp>
      <p:sp>
        <p:nvSpPr>
          <p:cNvPr id="4" name="Slide Number Placeholder 3">
            <a:extLst>
              <a:ext uri="{FF2B5EF4-FFF2-40B4-BE49-F238E27FC236}">
                <a16:creationId xmlns:a16="http://schemas.microsoft.com/office/drawing/2014/main" id="{82249006-6C72-39BB-AEBE-87DD52504F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extLst>
      <p:ext uri="{BB962C8B-B14F-4D97-AF65-F5344CB8AC3E}">
        <p14:creationId xmlns:p14="http://schemas.microsoft.com/office/powerpoint/2010/main" val="4285533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E4CA7-09AA-3918-C90F-E7009419C8E0}"/>
              </a:ext>
            </a:extLst>
          </p:cNvPr>
          <p:cNvSpPr>
            <a:spLocks noGrp="1"/>
          </p:cNvSpPr>
          <p:nvPr>
            <p:ph type="title"/>
          </p:nvPr>
        </p:nvSpPr>
        <p:spPr/>
        <p:txBody>
          <a:bodyPr/>
          <a:lstStyle/>
          <a:p>
            <a:r>
              <a:rPr lang="en-US"/>
              <a:t>Annotated Bibliography</a:t>
            </a:r>
          </a:p>
        </p:txBody>
      </p:sp>
      <p:sp>
        <p:nvSpPr>
          <p:cNvPr id="3" name="Text Placeholder 2">
            <a:extLst>
              <a:ext uri="{FF2B5EF4-FFF2-40B4-BE49-F238E27FC236}">
                <a16:creationId xmlns:a16="http://schemas.microsoft.com/office/drawing/2014/main" id="{14D0CC48-5DB1-2AFD-B2EA-A70BE13411C4}"/>
              </a:ext>
            </a:extLst>
          </p:cNvPr>
          <p:cNvSpPr>
            <a:spLocks noGrp="1"/>
          </p:cNvSpPr>
          <p:nvPr>
            <p:ph type="body" idx="1"/>
          </p:nvPr>
        </p:nvSpPr>
        <p:spPr>
          <a:xfrm>
            <a:off x="814275" y="1327350"/>
            <a:ext cx="7458054" cy="3145500"/>
          </a:xfrm>
        </p:spPr>
        <p:txBody>
          <a:bodyPr/>
          <a:lstStyle/>
          <a:p>
            <a:pPr marL="76200" indent="0">
              <a:buNone/>
            </a:pPr>
            <a:r>
              <a:rPr lang="en-US" sz="1000"/>
              <a:t>Bharti, M. (2025). AI-Driven Retail Optimization: A technical analysis of modern inventory management. </a:t>
            </a:r>
            <a:r>
              <a:rPr lang="en-US" sz="1000" i="1"/>
              <a:t>International Journal of Advances in Engineering and Management</a:t>
            </a:r>
            <a:r>
              <a:rPr lang="en-US" sz="1000"/>
              <a:t>, </a:t>
            </a:r>
            <a:r>
              <a:rPr lang="en-US" sz="1000" i="1"/>
              <a:t>7</a:t>
            </a:r>
            <a:r>
              <a:rPr lang="en-US" sz="1000"/>
              <a:t>(2), 31–38. </a:t>
            </a:r>
            <a:r>
              <a:rPr lang="en-US" sz="1000">
                <a:hlinkClick r:id="rId2"/>
              </a:rPr>
              <a:t>https://doi.org/10.35629/5252-07023138</a:t>
            </a:r>
            <a:r>
              <a:rPr lang="en-US" sz="1000"/>
              <a:t> </a:t>
            </a:r>
            <a:endParaRPr lang="en-US"/>
          </a:p>
          <a:p>
            <a:pPr marL="76200" indent="0" algn="just">
              <a:buNone/>
            </a:pPr>
            <a:r>
              <a:rPr lang="en-US" sz="1000">
                <a:ea typeface="+mn-lt"/>
                <a:cs typeface="+mn-lt"/>
              </a:rPr>
              <a:t>This paper talks about the use of AI and machine-learning to optimize retail inventory issues with respect to better demand forecasting, replenishment planning, and operational efficiency is a subject of analysis in the current paper. It emphasizes predictive analytics and suggestion-driven models of forecasting and inventory optimization but does not deal with real-time implementation or autonomy of decisions. Although it does give a solid theoretical basis to AI-based inventory forecasting, it has little discussion about real-time interventions, waste </a:t>
            </a:r>
            <a:r>
              <a:rPr lang="en-US" sz="1000" err="1">
                <a:ea typeface="+mn-lt"/>
                <a:cs typeface="+mn-lt"/>
              </a:rPr>
              <a:t>minimisation</a:t>
            </a:r>
            <a:r>
              <a:rPr lang="en-US" sz="1000">
                <a:ea typeface="+mn-lt"/>
                <a:cs typeface="+mn-lt"/>
              </a:rPr>
              <a:t> or dynamic price optimization as a response to the inventory risk and the market environment. Bharti (2025) then places AI in a predictive tool mainly. </a:t>
            </a:r>
            <a:r>
              <a:rPr lang="en-US" sz="1000" err="1">
                <a:ea typeface="+mn-lt"/>
                <a:cs typeface="+mn-lt"/>
              </a:rPr>
              <a:t>SmartCart</a:t>
            </a:r>
            <a:r>
              <a:rPr lang="en-US" sz="1000">
                <a:ea typeface="+mn-lt"/>
                <a:cs typeface="+mn-lt"/>
              </a:rPr>
              <a:t> AI, in its turn, builds on this base by moving beyond predictive and prescriptive decision-making in favor of real-time decision-making. </a:t>
            </a:r>
            <a:r>
              <a:rPr lang="en-US" sz="1000" err="1">
                <a:ea typeface="+mn-lt"/>
                <a:cs typeface="+mn-lt"/>
              </a:rPr>
              <a:t>SmartCart</a:t>
            </a:r>
            <a:r>
              <a:rPr lang="en-US" sz="1000">
                <a:ea typeface="+mn-lt"/>
                <a:cs typeface="+mn-lt"/>
              </a:rPr>
              <a:t> AI can predict inventory risk and respond to operational changes, through agentic intelligence, that dynamically optimizes prices depending on inventory positioning, cost structures and, therefore, waste can be minimized and profits maximized.</a:t>
            </a:r>
            <a:endParaRPr lang="en-US"/>
          </a:p>
          <a:p>
            <a:endParaRPr lang="en-US" sz="1000"/>
          </a:p>
        </p:txBody>
      </p:sp>
      <p:sp>
        <p:nvSpPr>
          <p:cNvPr id="4" name="Slide Number Placeholder 3">
            <a:extLst>
              <a:ext uri="{FF2B5EF4-FFF2-40B4-BE49-F238E27FC236}">
                <a16:creationId xmlns:a16="http://schemas.microsoft.com/office/drawing/2014/main" id="{651A49DC-3F56-2B9F-114D-4F963BC245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extLst>
      <p:ext uri="{BB962C8B-B14F-4D97-AF65-F5344CB8AC3E}">
        <p14:creationId xmlns:p14="http://schemas.microsoft.com/office/powerpoint/2010/main" val="3183148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BA618-E933-E026-42E3-0D2D4E65E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06881-6A63-C5BF-3A95-513DC1CF063E}"/>
              </a:ext>
            </a:extLst>
          </p:cNvPr>
          <p:cNvSpPr>
            <a:spLocks noGrp="1"/>
          </p:cNvSpPr>
          <p:nvPr>
            <p:ph type="title"/>
          </p:nvPr>
        </p:nvSpPr>
        <p:spPr/>
        <p:txBody>
          <a:bodyPr/>
          <a:lstStyle/>
          <a:p>
            <a:r>
              <a:rPr lang="en-US"/>
              <a:t>Annotated Bibliography</a:t>
            </a:r>
          </a:p>
        </p:txBody>
      </p:sp>
      <p:sp>
        <p:nvSpPr>
          <p:cNvPr id="3" name="Text Placeholder 2">
            <a:extLst>
              <a:ext uri="{FF2B5EF4-FFF2-40B4-BE49-F238E27FC236}">
                <a16:creationId xmlns:a16="http://schemas.microsoft.com/office/drawing/2014/main" id="{8D9C41C7-030C-8F7F-AF15-09C023B4CA4B}"/>
              </a:ext>
            </a:extLst>
          </p:cNvPr>
          <p:cNvSpPr>
            <a:spLocks noGrp="1"/>
          </p:cNvSpPr>
          <p:nvPr>
            <p:ph type="body" idx="1"/>
          </p:nvPr>
        </p:nvSpPr>
        <p:spPr/>
        <p:txBody>
          <a:bodyPr/>
          <a:lstStyle/>
          <a:p>
            <a:pPr marL="76200" indent="0">
              <a:buNone/>
            </a:pPr>
            <a:r>
              <a:rPr lang="en-US" sz="1000" err="1"/>
              <a:t>Ankam</a:t>
            </a:r>
            <a:r>
              <a:rPr lang="en-US" sz="1000"/>
              <a:t>, S. (2025). AI-Driven Demand Forecasting in Enterprise Retail Systems: Leveraging predictive analytics for enhanced supply chain. International Journal on Science and Technology, 16(1). </a:t>
            </a:r>
            <a:r>
              <a:rPr lang="en-US" sz="1000" u="sng">
                <a:hlinkClick r:id="rId2"/>
              </a:rPr>
              <a:t>https://doi.org/10.71097/ijsat.v16.i1.2644</a:t>
            </a:r>
            <a:endParaRPr lang="en-US" sz="1000"/>
          </a:p>
          <a:p>
            <a:pPr marL="76200" indent="0" algn="just">
              <a:buNone/>
            </a:pPr>
            <a:r>
              <a:rPr lang="en-US" sz="1000">
                <a:ea typeface="+mn-lt"/>
                <a:cs typeface="+mn-lt"/>
              </a:rPr>
              <a:t>This work provides a technical discussion of AI-based retail optimization systems, which focus on machine learning-based models and data-driven analytics to enhance inventory visibility, predictive accuracy, and operational efficiency. It examines how predictive models and rule-based automation might be used to aid in demand forecasting, inventory management, and replenishment planning, both in terms of analytical rigor and systematic operations. Nonetheless, it does not have inventory prioritization and risk-based action planning, but rather it depends on the fixed set of rules and preprogrammed automation which restricts its dynamical flexibility and autonomous decision-making in response to real-time inventory risks. The book offers a good technical base of AI-based optimization in retail especially in system architecture and data monitoring (</a:t>
            </a:r>
            <a:r>
              <a:rPr lang="en-US" sz="1000" err="1">
                <a:ea typeface="+mn-lt"/>
                <a:cs typeface="+mn-lt"/>
              </a:rPr>
              <a:t>Ankam</a:t>
            </a:r>
            <a:r>
              <a:rPr lang="en-US" sz="1000">
                <a:ea typeface="+mn-lt"/>
                <a:cs typeface="+mn-lt"/>
              </a:rPr>
              <a:t> 2025). Conversely, </a:t>
            </a:r>
            <a:r>
              <a:rPr lang="en-US" sz="1000" err="1">
                <a:ea typeface="+mn-lt"/>
                <a:cs typeface="+mn-lt"/>
              </a:rPr>
              <a:t>SmartCart</a:t>
            </a:r>
            <a:r>
              <a:rPr lang="en-US" sz="1000">
                <a:ea typeface="+mn-lt"/>
                <a:cs typeface="+mn-lt"/>
              </a:rPr>
              <a:t> AI closes the observation-intervention discrepancy by proposing agentic systems that are based on reasoning and convert analytical knowledge into real-time, context-sensitive, risk-sensitive inventory responses.</a:t>
            </a:r>
          </a:p>
        </p:txBody>
      </p:sp>
      <p:sp>
        <p:nvSpPr>
          <p:cNvPr id="4" name="Slide Number Placeholder 3">
            <a:extLst>
              <a:ext uri="{FF2B5EF4-FFF2-40B4-BE49-F238E27FC236}">
                <a16:creationId xmlns:a16="http://schemas.microsoft.com/office/drawing/2014/main" id="{652096A4-146E-53A1-25D1-45F078C25A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extLst>
      <p:ext uri="{BB962C8B-B14F-4D97-AF65-F5344CB8AC3E}">
        <p14:creationId xmlns:p14="http://schemas.microsoft.com/office/powerpoint/2010/main" val="2494040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247EB-D428-7B21-1A60-3E2FAF66E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CF844-5E9E-37CA-3C94-B7FB5FFBF62D}"/>
              </a:ext>
            </a:extLst>
          </p:cNvPr>
          <p:cNvSpPr>
            <a:spLocks noGrp="1"/>
          </p:cNvSpPr>
          <p:nvPr>
            <p:ph type="title"/>
          </p:nvPr>
        </p:nvSpPr>
        <p:spPr/>
        <p:txBody>
          <a:bodyPr/>
          <a:lstStyle/>
          <a:p>
            <a:r>
              <a:rPr lang="en-US"/>
              <a:t>Annotated Bibliography</a:t>
            </a:r>
          </a:p>
        </p:txBody>
      </p:sp>
      <p:sp>
        <p:nvSpPr>
          <p:cNvPr id="3" name="Text Placeholder 2">
            <a:extLst>
              <a:ext uri="{FF2B5EF4-FFF2-40B4-BE49-F238E27FC236}">
                <a16:creationId xmlns:a16="http://schemas.microsoft.com/office/drawing/2014/main" id="{BA65FCDA-E9CD-1A3F-E836-4F3124915F06}"/>
              </a:ext>
            </a:extLst>
          </p:cNvPr>
          <p:cNvSpPr>
            <a:spLocks noGrp="1"/>
          </p:cNvSpPr>
          <p:nvPr>
            <p:ph type="body" idx="1"/>
          </p:nvPr>
        </p:nvSpPr>
        <p:spPr/>
        <p:txBody>
          <a:bodyPr/>
          <a:lstStyle/>
          <a:p>
            <a:pPr marL="76200" indent="0">
              <a:buNone/>
            </a:pPr>
            <a:r>
              <a:rPr lang="en-US" sz="1000" err="1"/>
              <a:t>Bhavikatta</a:t>
            </a:r>
            <a:r>
              <a:rPr lang="en-US" sz="1000"/>
              <a:t>, N. B. (2025). AI-Driven Inventory Optimization in Supply Chains: A comprehensive review on reducing stockouts and mitigating overstock risks. </a:t>
            </a:r>
            <a:r>
              <a:rPr lang="en-US" sz="1000" i="1"/>
              <a:t>Journal of Computer Science and Technology Studies</a:t>
            </a:r>
            <a:r>
              <a:rPr lang="en-US" sz="1000"/>
              <a:t>, </a:t>
            </a:r>
            <a:r>
              <a:rPr lang="en-US" sz="1000" i="1"/>
              <a:t>7</a:t>
            </a:r>
            <a:r>
              <a:rPr lang="en-US" sz="1000"/>
              <a:t>(7), 01–13. </a:t>
            </a:r>
            <a:r>
              <a:rPr lang="en-US" sz="1000">
                <a:hlinkClick r:id="rId2"/>
              </a:rPr>
              <a:t>https://doi.org/10.32996/jcsts.2025.7.7.1</a:t>
            </a:r>
            <a:r>
              <a:rPr lang="en-US" sz="1000"/>
              <a:t> </a:t>
            </a:r>
          </a:p>
          <a:p>
            <a:pPr marL="76200" indent="0" algn="just">
              <a:buNone/>
            </a:pPr>
            <a:r>
              <a:rPr lang="en-US" sz="1000">
                <a:ea typeface="+mn-lt"/>
                <a:cs typeface="+mn-lt"/>
              </a:rPr>
              <a:t>The article entails a critical analysis of AI-enabled inventory optimization solutions to reduce the risks of stockouts and overstock in supply chains. It conducts a survey of predictive, statistical and machine-learning and inventory forecasting and risk assessment methods, comparing the efficiency of these methods to handle uncertainty. One of its contributions is that it finds loopholes in the prescriptive ways, especially with the products that are almost out of the shelf, moving slowly, and have surplus. Although the review is methodologically robust and helpful in perceiving the state of the art in AI-driven inventory forecasting, it is rather abstract and does not suggest any tangible system architectures and real-time mechanisms of transforming any identified risks into a working operation. According to </a:t>
            </a:r>
            <a:r>
              <a:rPr lang="en-US" sz="1000" err="1">
                <a:ea typeface="+mn-lt"/>
                <a:cs typeface="+mn-lt"/>
              </a:rPr>
              <a:t>Bhavikatta</a:t>
            </a:r>
            <a:r>
              <a:rPr lang="en-US" sz="1000">
                <a:ea typeface="+mn-lt"/>
                <a:cs typeface="+mn-lt"/>
              </a:rPr>
              <a:t> (2025), the work does not have prioritization and execution plans of the high-risk inventory. Based on these results, </a:t>
            </a:r>
            <a:r>
              <a:rPr lang="en-US" sz="1000" err="1">
                <a:ea typeface="+mn-lt"/>
                <a:cs typeface="+mn-lt"/>
              </a:rPr>
              <a:t>SmartCart</a:t>
            </a:r>
            <a:r>
              <a:rPr lang="en-US" sz="1000">
                <a:ea typeface="+mn-lt"/>
                <a:cs typeface="+mn-lt"/>
              </a:rPr>
              <a:t> AI introduces a dynamic, agent-based system that does not only identify inventory risk but also prioritizes products and factors in operational cost into the decision, it allows making actionable and outcome-driven inventory management aimed at efficiency, waste generation, and maximizing revenue.</a:t>
            </a:r>
            <a:endParaRPr lang="en-US">
              <a:ea typeface="+mn-lt"/>
              <a:cs typeface="+mn-lt"/>
            </a:endParaRPr>
          </a:p>
        </p:txBody>
      </p:sp>
      <p:sp>
        <p:nvSpPr>
          <p:cNvPr id="4" name="Slide Number Placeholder 3">
            <a:extLst>
              <a:ext uri="{FF2B5EF4-FFF2-40B4-BE49-F238E27FC236}">
                <a16:creationId xmlns:a16="http://schemas.microsoft.com/office/drawing/2014/main" id="{F43BEB0F-DAC5-B77A-5118-CBE207A461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extLst>
      <p:ext uri="{BB962C8B-B14F-4D97-AF65-F5344CB8AC3E}">
        <p14:creationId xmlns:p14="http://schemas.microsoft.com/office/powerpoint/2010/main" val="899173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References</a:t>
            </a:r>
          </a:p>
        </p:txBody>
      </p:sp>
      <p:sp>
        <p:nvSpPr>
          <p:cNvPr id="3" name="Text Placeholder 2"/>
          <p:cNvSpPr>
            <a:spLocks noGrp="1"/>
          </p:cNvSpPr>
          <p:nvPr>
            <p:ph type="body" idx="1"/>
          </p:nvPr>
        </p:nvSpPr>
        <p:spPr>
          <a:xfrm>
            <a:off x="389028" y="1449273"/>
            <a:ext cx="8396753" cy="3345027"/>
          </a:xfrm>
        </p:spPr>
        <p:txBody>
          <a:bodyPr/>
          <a:lstStyle/>
          <a:p>
            <a:pPr fontAlgn="base"/>
            <a:r>
              <a:rPr lang="en-US" sz="1000" err="1">
                <a:highlight>
                  <a:srgbClr val="FFFFFF"/>
                </a:highlight>
              </a:rPr>
              <a:t>Ankam</a:t>
            </a:r>
            <a:r>
              <a:rPr lang="en-US" sz="1000">
                <a:highlight>
                  <a:srgbClr val="FFFFFF"/>
                </a:highlight>
              </a:rPr>
              <a:t>, S. (2025). AI-Driven Demand Forecasting in Enterprise Retail Systems: Leveraging predictive analytics for enhanced supply chain. </a:t>
            </a:r>
            <a:r>
              <a:rPr lang="en-US" sz="1000" i="1">
                <a:highlight>
                  <a:srgbClr val="FFFFFF"/>
                </a:highlight>
              </a:rPr>
              <a:t>International Journal on Science and Technology</a:t>
            </a:r>
            <a:r>
              <a:rPr lang="en-US" sz="1000">
                <a:highlight>
                  <a:srgbClr val="FFFFFF"/>
                </a:highlight>
              </a:rPr>
              <a:t>, </a:t>
            </a:r>
            <a:r>
              <a:rPr lang="en-US" sz="1000" i="1">
                <a:highlight>
                  <a:srgbClr val="FFFFFF"/>
                </a:highlight>
              </a:rPr>
              <a:t>16</a:t>
            </a:r>
            <a:r>
              <a:rPr lang="en-US" sz="1000">
                <a:highlight>
                  <a:srgbClr val="FFFFFF"/>
                </a:highlight>
              </a:rPr>
              <a:t>(1). </a:t>
            </a:r>
            <a:r>
              <a:rPr lang="en-US" sz="1000" u="sng">
                <a:highlight>
                  <a:srgbClr val="FFFFFF"/>
                </a:highlight>
                <a:hlinkClick r:id="rId3"/>
              </a:rPr>
              <a:t>https://doi.org/10.71097/ijsat.v16.i1.2644</a:t>
            </a:r>
            <a:r>
              <a:rPr lang="en-US" sz="1000">
                <a:highlight>
                  <a:srgbClr val="FFFFFF"/>
                </a:highlight>
              </a:rPr>
              <a:t> </a:t>
            </a:r>
          </a:p>
          <a:p>
            <a:pPr fontAlgn="base"/>
            <a:r>
              <a:rPr lang="en-US" sz="1000" err="1">
                <a:highlight>
                  <a:srgbClr val="FFFFFF"/>
                </a:highlight>
              </a:rPr>
              <a:t>Aylak</a:t>
            </a:r>
            <a:r>
              <a:rPr lang="en-US" sz="1000">
                <a:highlight>
                  <a:srgbClr val="FFFFFF"/>
                </a:highlight>
              </a:rPr>
              <a:t>, B. L. (2025). </a:t>
            </a:r>
            <a:r>
              <a:rPr lang="en-US" sz="1000" err="1">
                <a:highlight>
                  <a:srgbClr val="FFFFFF"/>
                </a:highlight>
              </a:rPr>
              <a:t>SustAI</a:t>
            </a:r>
            <a:r>
              <a:rPr lang="en-US" sz="1000">
                <a:highlight>
                  <a:srgbClr val="FFFFFF"/>
                </a:highlight>
              </a:rPr>
              <a:t>-SCM: Intelligent Supply Chain Process Automation with Agentic AI for Sustainability and Cost Efficiency. Sustainability, 17(6), 2453. </a:t>
            </a:r>
            <a:r>
              <a:rPr lang="en-US" sz="1000" u="sng">
                <a:highlight>
                  <a:srgbClr val="FFFFFF"/>
                </a:highlight>
                <a:hlinkClick r:id="rId4"/>
              </a:rPr>
              <a:t>https://doi.org/10.3390/su17062453</a:t>
            </a:r>
            <a:r>
              <a:rPr lang="en-US" sz="1000">
                <a:highlight>
                  <a:srgbClr val="FFFFFF"/>
                </a:highlight>
              </a:rPr>
              <a:t> </a:t>
            </a:r>
          </a:p>
          <a:p>
            <a:pPr fontAlgn="base"/>
            <a:r>
              <a:rPr lang="en-US" sz="1000">
                <a:highlight>
                  <a:srgbClr val="FFFFFF"/>
                </a:highlight>
              </a:rPr>
              <a:t>Bharti, M. (2025). AI-Driven Retail Optimization: A technical analysis of modern inventory management. </a:t>
            </a:r>
            <a:r>
              <a:rPr lang="en-US" sz="1000" i="1">
                <a:highlight>
                  <a:srgbClr val="FFFFFF"/>
                </a:highlight>
              </a:rPr>
              <a:t>International Journal of Advances in Engineering and Management</a:t>
            </a:r>
            <a:r>
              <a:rPr lang="en-US" sz="1000">
                <a:highlight>
                  <a:srgbClr val="FFFFFF"/>
                </a:highlight>
              </a:rPr>
              <a:t>, </a:t>
            </a:r>
            <a:r>
              <a:rPr lang="en-US" sz="1000" i="1">
                <a:highlight>
                  <a:srgbClr val="FFFFFF"/>
                </a:highlight>
              </a:rPr>
              <a:t>7</a:t>
            </a:r>
            <a:r>
              <a:rPr lang="en-US" sz="1000">
                <a:highlight>
                  <a:srgbClr val="FFFFFF"/>
                </a:highlight>
              </a:rPr>
              <a:t>(2), 31–38. </a:t>
            </a:r>
            <a:r>
              <a:rPr lang="en-US" sz="1000" u="sng">
                <a:highlight>
                  <a:srgbClr val="FFFFFF"/>
                </a:highlight>
                <a:hlinkClick r:id="rId5"/>
              </a:rPr>
              <a:t>https://doi.org/10.35629/5252-07023138</a:t>
            </a:r>
            <a:r>
              <a:rPr lang="en-US" sz="1000">
                <a:highlight>
                  <a:srgbClr val="FFFFFF"/>
                </a:highlight>
              </a:rPr>
              <a:t> </a:t>
            </a:r>
          </a:p>
          <a:p>
            <a:pPr fontAlgn="base"/>
            <a:r>
              <a:rPr lang="en-US" sz="1000" err="1">
                <a:highlight>
                  <a:srgbClr val="FFFFFF"/>
                </a:highlight>
              </a:rPr>
              <a:t>Bhavikatta</a:t>
            </a:r>
            <a:r>
              <a:rPr lang="en-US" sz="1000">
                <a:highlight>
                  <a:srgbClr val="FFFFFF"/>
                </a:highlight>
              </a:rPr>
              <a:t>, N. B. (2025). AI-Driven Inventory Optimization in Supply Chains: A comprehensive review on reducing stockouts and mitigating overstock risks. </a:t>
            </a:r>
            <a:r>
              <a:rPr lang="en-US" sz="1000" i="1">
                <a:highlight>
                  <a:srgbClr val="FFFFFF"/>
                </a:highlight>
              </a:rPr>
              <a:t>Journal of Computer Science and Technology Studies</a:t>
            </a:r>
            <a:r>
              <a:rPr lang="en-US" sz="1000">
                <a:highlight>
                  <a:srgbClr val="FFFFFF"/>
                </a:highlight>
              </a:rPr>
              <a:t>, </a:t>
            </a:r>
            <a:r>
              <a:rPr lang="en-US" sz="1000" i="1">
                <a:highlight>
                  <a:srgbClr val="FFFFFF"/>
                </a:highlight>
              </a:rPr>
              <a:t>7</a:t>
            </a:r>
            <a:r>
              <a:rPr lang="en-US" sz="1000">
                <a:highlight>
                  <a:srgbClr val="FFFFFF"/>
                </a:highlight>
              </a:rPr>
              <a:t>(7), 01–13. </a:t>
            </a:r>
            <a:r>
              <a:rPr lang="en-US" sz="1000" u="sng">
                <a:highlight>
                  <a:srgbClr val="FFFFFF"/>
                </a:highlight>
                <a:hlinkClick r:id="rId6"/>
              </a:rPr>
              <a:t>https://doi.org/10.32996/jcsts.2025.7.7.1</a:t>
            </a:r>
            <a:r>
              <a:rPr lang="en-US" sz="1000">
                <a:highlight>
                  <a:srgbClr val="FFFFFF"/>
                </a:highlight>
              </a:rPr>
              <a:t> </a:t>
            </a:r>
          </a:p>
          <a:p>
            <a:pPr fontAlgn="base"/>
            <a:r>
              <a:rPr lang="en-US" sz="1000">
                <a:highlight>
                  <a:srgbClr val="FFFFFF"/>
                </a:highlight>
              </a:rPr>
              <a:t>Dhaliwal, N., Tomar, P. K., Joshi, A., Reddy, G. S., Hussein, A., &amp; Alazzam, M. B. (2023). A detailed analysis of use of AI in inventory management for technically better management. 2023 3rd International Conference on Advance Computing and Innovative Technologies in Engineering (ICACITE), 197–201. </a:t>
            </a:r>
            <a:r>
              <a:rPr lang="en-US" sz="1000" u="sng">
                <a:highlight>
                  <a:srgbClr val="FFFFFF"/>
                </a:highlight>
                <a:hlinkClick r:id="rId7"/>
              </a:rPr>
              <a:t>https://doi.org/10.1109/icacite57410.2023.10183082</a:t>
            </a:r>
            <a:r>
              <a:rPr lang="en-US" sz="1000">
                <a:highlight>
                  <a:srgbClr val="FFFFFF"/>
                </a:highlight>
              </a:rPr>
              <a:t> </a:t>
            </a:r>
          </a:p>
          <a:p>
            <a:pPr fontAlgn="base"/>
            <a:r>
              <a:rPr lang="en-US" sz="1000">
                <a:highlight>
                  <a:srgbClr val="FFFFFF"/>
                </a:highlight>
              </a:rPr>
              <a:t>Ma, J., Jiang, X., &amp; Yuan, Y. (2024). Challenges and Opportunities of Implementing AI in Cross-Border E-Commerce: A Comparative study of industry practices. </a:t>
            </a:r>
            <a:r>
              <a:rPr lang="en-US" sz="1000" i="1">
                <a:highlight>
                  <a:srgbClr val="FFFFFF"/>
                </a:highlight>
              </a:rPr>
              <a:t>A Comparative Study of Industry Practices</a:t>
            </a:r>
            <a:r>
              <a:rPr lang="en-US" sz="1000">
                <a:highlight>
                  <a:srgbClr val="FFFFFF"/>
                </a:highlight>
              </a:rPr>
              <a:t>, 110–116. </a:t>
            </a:r>
            <a:r>
              <a:rPr lang="en-US" sz="1000" u="sng">
                <a:highlight>
                  <a:srgbClr val="FFFFFF"/>
                </a:highlight>
                <a:hlinkClick r:id="rId8"/>
              </a:rPr>
              <a:t>https://doi.org/10.1145/3695652.3695701</a:t>
            </a:r>
            <a:r>
              <a:rPr lang="en-US" sz="1000">
                <a:highlight>
                  <a:srgbClr val="FFFFFF"/>
                </a:highlight>
              </a:rPr>
              <a:t> </a:t>
            </a:r>
          </a:p>
          <a:p>
            <a:pPr fontAlgn="base"/>
            <a:r>
              <a:rPr lang="en-US" sz="1000">
                <a:highlight>
                  <a:srgbClr val="FFFFFF"/>
                </a:highlight>
              </a:rPr>
              <a:t>Mahat, D., Niranjan, K., Naidu, C. S. K. V. R., Babu, S. B. G. T., Kumar, M., &amp; L, N. (2023). AI-Driven optimization of supply chain and logistics in mechanical engineering. 2023 10th IEEE Uttar Pradesh Section International Conference on Electrical, Electronics and Computer Engineering (UPCON), 1611–1616. </a:t>
            </a:r>
            <a:r>
              <a:rPr lang="en-US" sz="1000" u="sng">
                <a:highlight>
                  <a:srgbClr val="FFFFFF"/>
                </a:highlight>
                <a:hlinkClick r:id="rId9"/>
              </a:rPr>
              <a:t>https://doi.org/10.1109/upcon59197.2023.10434905</a:t>
            </a:r>
            <a:r>
              <a:rPr lang="en-US" sz="1000">
                <a:highlight>
                  <a:srgbClr val="FFFFFF"/>
                </a:highlight>
              </a:rPr>
              <a:t> </a:t>
            </a:r>
          </a:p>
          <a:p>
            <a:pPr fontAlgn="base"/>
            <a:r>
              <a:rPr lang="en-US" sz="1000" err="1">
                <a:highlight>
                  <a:srgbClr val="FFFFFF"/>
                </a:highlight>
              </a:rPr>
              <a:t>Juanatas</a:t>
            </a:r>
            <a:r>
              <a:rPr lang="en-US" sz="1000">
                <a:highlight>
                  <a:srgbClr val="FFFFFF"/>
                </a:highlight>
              </a:rPr>
              <a:t>, R. A., &amp; </a:t>
            </a:r>
            <a:r>
              <a:rPr lang="en-US" sz="1000" err="1">
                <a:highlight>
                  <a:srgbClr val="FFFFFF"/>
                </a:highlight>
              </a:rPr>
              <a:t>Juanatas</a:t>
            </a:r>
            <a:r>
              <a:rPr lang="en-US" sz="1000">
                <a:highlight>
                  <a:srgbClr val="FFFFFF"/>
                </a:highlight>
              </a:rPr>
              <a:t>, I. C. (2024). Inventory Optimization through Sales Forecasting. </a:t>
            </a:r>
            <a:r>
              <a:rPr lang="en-US" sz="1000" i="1">
                <a:highlight>
                  <a:srgbClr val="FFFFFF"/>
                </a:highlight>
              </a:rPr>
              <a:t>Proceedings of the 2024 15th International Conference on E-Education, E-Business, E-Management and E-Learning (IC4E ’24)</a:t>
            </a:r>
            <a:r>
              <a:rPr lang="en-US" sz="1000">
                <a:highlight>
                  <a:srgbClr val="FFFFFF"/>
                </a:highlight>
              </a:rPr>
              <a:t>, 330–336. </a:t>
            </a:r>
            <a:r>
              <a:rPr lang="en-US" sz="1000" u="sng">
                <a:highlight>
                  <a:srgbClr val="FFFFFF"/>
                </a:highlight>
                <a:hlinkClick r:id="rId10"/>
              </a:rPr>
              <a:t>https://doi.org/10.1145/3670013.3670078</a:t>
            </a:r>
            <a:r>
              <a:rPr lang="en-US" sz="1000">
                <a:highlight>
                  <a:srgbClr val="FFFFFF"/>
                </a:highlight>
              </a:rPr>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extLst>
      <p:ext uri="{BB962C8B-B14F-4D97-AF65-F5344CB8AC3E}">
        <p14:creationId xmlns:p14="http://schemas.microsoft.com/office/powerpoint/2010/main" val="2615452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3E930-1543-A056-62BF-4B8685B2A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CBBA02-97D5-D05D-1D8C-64BA34FA502E}"/>
              </a:ext>
            </a:extLst>
          </p:cNvPr>
          <p:cNvSpPr>
            <a:spLocks noGrp="1"/>
          </p:cNvSpPr>
          <p:nvPr>
            <p:ph type="title"/>
          </p:nvPr>
        </p:nvSpPr>
        <p:spPr/>
        <p:txBody>
          <a:bodyPr/>
          <a:lstStyle/>
          <a:p>
            <a:r>
              <a:rPr lang="en-US"/>
              <a:t>Key References</a:t>
            </a:r>
          </a:p>
        </p:txBody>
      </p:sp>
      <p:sp>
        <p:nvSpPr>
          <p:cNvPr id="3" name="Text Placeholder 2">
            <a:extLst>
              <a:ext uri="{FF2B5EF4-FFF2-40B4-BE49-F238E27FC236}">
                <a16:creationId xmlns:a16="http://schemas.microsoft.com/office/drawing/2014/main" id="{8F1683A3-A7C1-2C23-1CC5-F59B83F45A01}"/>
              </a:ext>
            </a:extLst>
          </p:cNvPr>
          <p:cNvSpPr>
            <a:spLocks noGrp="1"/>
          </p:cNvSpPr>
          <p:nvPr>
            <p:ph type="body" idx="1"/>
          </p:nvPr>
        </p:nvSpPr>
        <p:spPr>
          <a:xfrm>
            <a:off x="389028" y="1449273"/>
            <a:ext cx="8396753" cy="3345027"/>
          </a:xfrm>
        </p:spPr>
        <p:txBody>
          <a:bodyPr/>
          <a:lstStyle/>
          <a:p>
            <a:pPr fontAlgn="base"/>
            <a:r>
              <a:rPr lang="en-US" sz="1000" dirty="0">
                <a:highlight>
                  <a:srgbClr val="FFFFFF"/>
                </a:highlight>
              </a:rPr>
              <a:t>Samuels, A. (2025). Examining the integration of artificial intelligence in supply chain management from Industry 4.0 to 6.0: a systematic literature review. </a:t>
            </a:r>
            <a:r>
              <a:rPr lang="en-US" sz="1000" i="1" dirty="0">
                <a:highlight>
                  <a:srgbClr val="FFFFFF"/>
                </a:highlight>
              </a:rPr>
              <a:t>Frontiers in Artificial Intelligence</a:t>
            </a:r>
            <a:r>
              <a:rPr lang="en-US" sz="1000" dirty="0">
                <a:highlight>
                  <a:srgbClr val="FFFFFF"/>
                </a:highlight>
              </a:rPr>
              <a:t>, </a:t>
            </a:r>
            <a:r>
              <a:rPr lang="en-US" sz="1000" i="1" dirty="0">
                <a:highlight>
                  <a:srgbClr val="FFFFFF"/>
                </a:highlight>
              </a:rPr>
              <a:t>7</a:t>
            </a:r>
            <a:r>
              <a:rPr lang="en-US" sz="1000" dirty="0">
                <a:highlight>
                  <a:srgbClr val="FFFFFF"/>
                </a:highlight>
              </a:rPr>
              <a:t>, 1477044. </a:t>
            </a:r>
            <a:r>
              <a:rPr lang="en-US" sz="1000" u="sng" dirty="0">
                <a:highlight>
                  <a:srgbClr val="FFFFFF"/>
                </a:highlight>
                <a:hlinkClick r:id="rId3"/>
              </a:rPr>
              <a:t>https://doi.org/10.3389/frai.2024.1477044</a:t>
            </a:r>
            <a:r>
              <a:rPr lang="en-US" sz="1000" dirty="0">
                <a:highlight>
                  <a:srgbClr val="FFFFFF"/>
                </a:highlight>
              </a:rPr>
              <a:t> </a:t>
            </a:r>
          </a:p>
          <a:p>
            <a:pPr fontAlgn="base"/>
            <a:r>
              <a:rPr lang="en-US" sz="1000" dirty="0">
                <a:highlight>
                  <a:srgbClr val="FFFFFF"/>
                </a:highlight>
              </a:rPr>
              <a:t>Sathyabama, K., Raj, A. P. A., &amp; Gukan, R. (2024). AI-Driven expiry Prediction and Dynamic Pricing system for retail inventory management utilizing ARIMA and LSTM models. </a:t>
            </a:r>
            <a:r>
              <a:rPr lang="en-US" sz="1000" i="1" dirty="0">
                <a:highlight>
                  <a:srgbClr val="FFFFFF"/>
                </a:highlight>
              </a:rPr>
              <a:t>International Conference on Emerging Research in Computational Science (ICERCS)</a:t>
            </a:r>
            <a:r>
              <a:rPr lang="en-US" sz="1000" dirty="0">
                <a:highlight>
                  <a:srgbClr val="FFFFFF"/>
                </a:highlight>
              </a:rPr>
              <a:t>, 1–6. </a:t>
            </a:r>
            <a:r>
              <a:rPr lang="en-US" sz="1000" u="sng" dirty="0">
                <a:highlight>
                  <a:srgbClr val="FFFFFF"/>
                </a:highlight>
                <a:hlinkClick r:id="rId4"/>
              </a:rPr>
              <a:t>https://doi.org/10.1109/icercs63125.2024.10895116</a:t>
            </a:r>
            <a:r>
              <a:rPr lang="en-US" sz="1000" dirty="0">
                <a:highlight>
                  <a:srgbClr val="FFFFFF"/>
                </a:highlight>
              </a:rPr>
              <a:t> </a:t>
            </a:r>
          </a:p>
          <a:p>
            <a:pPr fontAlgn="base"/>
            <a:r>
              <a:rPr lang="en-US" sz="1000" dirty="0">
                <a:highlight>
                  <a:srgbClr val="FFFFFF"/>
                </a:highlight>
              </a:rPr>
              <a:t>Tiwari, A., &amp; </a:t>
            </a:r>
            <a:r>
              <a:rPr lang="en-US" sz="1000" dirty="0" err="1">
                <a:highlight>
                  <a:srgbClr val="FFFFFF"/>
                </a:highlight>
              </a:rPr>
              <a:t>Kushwah</a:t>
            </a:r>
            <a:r>
              <a:rPr lang="en-US" sz="1000" dirty="0">
                <a:highlight>
                  <a:srgbClr val="FFFFFF"/>
                </a:highlight>
              </a:rPr>
              <a:t>, R. (2025). Impact of Artificial Intelligence on Forecasting and Inventory Management. International Journal For Multidisciplinary Research. </a:t>
            </a:r>
          </a:p>
          <a:p>
            <a:pPr fontAlgn="base"/>
            <a:r>
              <a:rPr lang="en-US" sz="1000" dirty="0">
                <a:highlight>
                  <a:srgbClr val="FFFFFF"/>
                </a:highlight>
              </a:rPr>
              <a:t>Zhou, Q., Dong, C., Yang, Y., &amp; Ngai, W. T. E. (2024). Intelligent pricing and inventory control: a deep Multi-Agent reinforcement learning algorithm. SSRN Electronic Journal. </a:t>
            </a:r>
            <a:r>
              <a:rPr lang="en-US" sz="1000" u="sng" dirty="0">
                <a:highlight>
                  <a:srgbClr val="FFFFFF"/>
                </a:highlight>
                <a:hlinkClick r:id="rId5"/>
              </a:rPr>
              <a:t>https://doi.org/10.2139/ssrn.4889717</a:t>
            </a:r>
            <a:r>
              <a:rPr lang="en-US" sz="1000" dirty="0">
                <a:highlight>
                  <a:srgbClr val="FFFFFF"/>
                </a:highlight>
              </a:rPr>
              <a:t> </a:t>
            </a:r>
          </a:p>
          <a:p>
            <a:pPr fontAlgn="base"/>
            <a:r>
              <a:rPr lang="en-US" sz="1000" dirty="0">
                <a:highlight>
                  <a:srgbClr val="FFFFFF"/>
                </a:highlight>
              </a:rPr>
              <a:t> Zulfiqar, M. I., Khalid, A., Siddig, A., Nawaz, M. J., &amp; </a:t>
            </a:r>
            <a:r>
              <a:rPr lang="en-US" sz="1000" dirty="0" err="1">
                <a:highlight>
                  <a:srgbClr val="FFFFFF"/>
                </a:highlight>
              </a:rPr>
              <a:t>Saay</a:t>
            </a:r>
            <a:r>
              <a:rPr lang="en-US" sz="1000" dirty="0">
                <a:highlight>
                  <a:srgbClr val="FFFFFF"/>
                </a:highlight>
              </a:rPr>
              <a:t>, S. (2025). AI-Driven smart shopping carts with Real-Time tracking and inventory forecasting for enhanced retail efficiency. IEEE Access, 13, 55576–55585. </a:t>
            </a:r>
            <a:r>
              <a:rPr lang="en-US" sz="1000" u="sng" dirty="0">
                <a:highlight>
                  <a:srgbClr val="FFFFFF"/>
                </a:highlight>
                <a:hlinkClick r:id="rId6"/>
              </a:rPr>
              <a:t>https://doi.org/10.1109/access.2025.3553854</a:t>
            </a:r>
            <a:r>
              <a:rPr lang="en-US" sz="1000" dirty="0">
                <a:highlight>
                  <a:srgbClr val="FFFFFF"/>
                </a:highlight>
              </a:rPr>
              <a:t> </a:t>
            </a:r>
          </a:p>
          <a:p>
            <a:pPr fontAlgn="base"/>
            <a:r>
              <a:rPr lang="en-US" sz="1000" i="1" dirty="0">
                <a:highlight>
                  <a:srgbClr val="FFFFFF"/>
                </a:highlight>
              </a:rPr>
              <a:t>$540 billion global food waste bill exposed for 2026 | Avery Dennison. (n.d.). </a:t>
            </a:r>
            <a:r>
              <a:rPr lang="en-US" sz="1000" i="1" u="sng" dirty="0">
                <a:highlight>
                  <a:srgbClr val="FFFFFF"/>
                </a:highlight>
                <a:hlinkClick r:id="rId7"/>
              </a:rPr>
              <a:t>https://www.averydennison.com/en/home/news/press-releases/540-billion-global-food-waste-bill-exposed-for-2026.html</a:t>
            </a:r>
            <a:r>
              <a:rPr lang="en-US" sz="1000" dirty="0">
                <a:highlight>
                  <a:srgbClr val="FFFFFF"/>
                </a:highlight>
              </a:rPr>
              <a:t> </a:t>
            </a:r>
          </a:p>
          <a:p>
            <a:pPr fontAlgn="base"/>
            <a:r>
              <a:rPr lang="en-US" sz="1000" i="1" dirty="0"/>
              <a:t>Kaggle Grocery Dataset. (n.d.). </a:t>
            </a:r>
            <a:r>
              <a:rPr lang="en-US" sz="1000" i="1" u="sng" dirty="0">
                <a:hlinkClick r:id="rId8"/>
              </a:rPr>
              <a:t>https://www.kaggle.com/datasets/salahuddinahmedshuvo/grocery-inventory-and-sales-dataset?resource=download</a:t>
            </a:r>
            <a:r>
              <a:rPr lang="en-US" sz="1000" dirty="0"/>
              <a:t> </a:t>
            </a:r>
          </a:p>
          <a:p>
            <a:pPr fontAlgn="base"/>
            <a:r>
              <a:rPr lang="en-US" sz="1000" i="1" dirty="0"/>
              <a:t>Retail Store Inventory Forecasting Dataset. (n.d.). </a:t>
            </a:r>
            <a:r>
              <a:rPr lang="en-US" sz="1000" i="1" u="sng" dirty="0">
                <a:hlinkClick r:id="rId9"/>
              </a:rPr>
              <a:t>https://www.kaggle.com/datasets/anirudhchauhan/retail-store-inventory-forecasting-dataset</a:t>
            </a:r>
            <a:r>
              <a:rPr lang="en-US" sz="1000" dirty="0"/>
              <a:t> </a:t>
            </a:r>
          </a:p>
          <a:p>
            <a:pPr fontAlgn="base"/>
            <a:endParaRPr lang="en-US" sz="1000" dirty="0">
              <a:highlight>
                <a:srgbClr val="FFFFFF"/>
              </a:highlight>
            </a:endParaRPr>
          </a:p>
        </p:txBody>
      </p:sp>
      <p:sp>
        <p:nvSpPr>
          <p:cNvPr id="4" name="Slide Number Placeholder 3">
            <a:extLst>
              <a:ext uri="{FF2B5EF4-FFF2-40B4-BE49-F238E27FC236}">
                <a16:creationId xmlns:a16="http://schemas.microsoft.com/office/drawing/2014/main" id="{98CDC7E3-6472-02D4-818D-73C173B32E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2424512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Q&amp;A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pic>
        <p:nvPicPr>
          <p:cNvPr id="5" name="Picture 4"/>
          <p:cNvPicPr>
            <a:picLocks noChangeAspect="1"/>
          </p:cNvPicPr>
          <p:nvPr/>
        </p:nvPicPr>
        <p:blipFill>
          <a:blip r:embed="rId2"/>
          <a:stretch>
            <a:fillRect/>
          </a:stretch>
        </p:blipFill>
        <p:spPr>
          <a:xfrm>
            <a:off x="814275" y="1862668"/>
            <a:ext cx="4402663" cy="1761065"/>
          </a:xfrm>
          <a:prstGeom prst="rect">
            <a:avLst/>
          </a:prstGeom>
        </p:spPr>
      </p:pic>
      <p:pic>
        <p:nvPicPr>
          <p:cNvPr id="6" name="Picture 5"/>
          <p:cNvPicPr>
            <a:picLocks noChangeAspect="1"/>
          </p:cNvPicPr>
          <p:nvPr/>
        </p:nvPicPr>
        <p:blipFill>
          <a:blip r:embed="rId3"/>
          <a:stretch>
            <a:fillRect/>
          </a:stretch>
        </p:blipFill>
        <p:spPr>
          <a:xfrm>
            <a:off x="5912731" y="1862668"/>
            <a:ext cx="1944335" cy="1944335"/>
          </a:xfrm>
          <a:prstGeom prst="rect">
            <a:avLst/>
          </a:prstGeom>
        </p:spPr>
      </p:pic>
    </p:spTree>
    <p:extLst>
      <p:ext uri="{BB962C8B-B14F-4D97-AF65-F5344CB8AC3E}">
        <p14:creationId xmlns:p14="http://schemas.microsoft.com/office/powerpoint/2010/main" val="2863282085"/>
      </p:ext>
    </p:extLst>
  </p:cSld>
  <p:clrMapOvr>
    <a:masterClrMapping/>
  </p:clrMapOvr>
</p:sld>
</file>

<file path=ppt/theme/theme1.xml><?xml version="1.0" encoding="utf-8"?>
<a:theme xmlns:a="http://schemas.openxmlformats.org/drawingml/2006/main" name="Saler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231</TotalTime>
  <Words>3628</Words>
  <Application>Microsoft Macintosh PowerPoint</Application>
  <PresentationFormat>On-screen Show (16:9)</PresentationFormat>
  <Paragraphs>296</Paragraphs>
  <Slides>26</Slides>
  <Notes>5</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Arvo</vt:lpstr>
      <vt:lpstr>inherit</vt:lpstr>
      <vt:lpstr>Roboto Condensed</vt:lpstr>
      <vt:lpstr>Roboto Condensed Light</vt:lpstr>
      <vt:lpstr>System Font Regular</vt:lpstr>
      <vt:lpstr>Wingdings</vt:lpstr>
      <vt:lpstr>Salerio template</vt:lpstr>
      <vt:lpstr>SmartCart AI:A Decision-Centric Agentic System for Inventory Waste Reduction and Pricing Optimization  </vt:lpstr>
      <vt:lpstr>Agenda</vt:lpstr>
      <vt:lpstr>Motivation</vt:lpstr>
      <vt:lpstr>Problem Statement</vt:lpstr>
      <vt:lpstr>Background</vt:lpstr>
      <vt:lpstr>Related Work</vt:lpstr>
      <vt:lpstr>Synthesis Matrix</vt:lpstr>
      <vt:lpstr>Feature List</vt:lpstr>
      <vt:lpstr>Future Work</vt:lpstr>
      <vt:lpstr>Approach</vt:lpstr>
      <vt:lpstr>Layered System Architecture</vt:lpstr>
      <vt:lpstr>Layered System Architecture</vt:lpstr>
      <vt:lpstr>Data Analysis</vt:lpstr>
      <vt:lpstr>ER DIAGRAM</vt:lpstr>
      <vt:lpstr>Use Case Diagram</vt:lpstr>
      <vt:lpstr>UI Flow</vt:lpstr>
      <vt:lpstr>UI Pages</vt:lpstr>
      <vt:lpstr>UI Pages</vt:lpstr>
      <vt:lpstr>API DESIGN</vt:lpstr>
      <vt:lpstr>Descriptive Statistics</vt:lpstr>
      <vt:lpstr>Annotated Bibliography</vt:lpstr>
      <vt:lpstr>Annotated Bibliography</vt:lpstr>
      <vt:lpstr>Annotated Bibliography</vt:lpstr>
      <vt:lpstr>Key References</vt:lpstr>
      <vt:lpstr>Key References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Karthik Dinakaran</dc:creator>
  <cp:lastModifiedBy>Megha N</cp:lastModifiedBy>
  <cp:revision>99</cp:revision>
  <dcterms:modified xsi:type="dcterms:W3CDTF">2026-02-16T05:13:36Z</dcterms:modified>
</cp:coreProperties>
</file>